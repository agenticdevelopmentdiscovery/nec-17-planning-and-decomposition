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2A0C6EF-36EE-BF28-BCE2-E8605CF50D4D}">
          <p14:sldIdLst>
            <p14:sldId id="256"/>
          </p14:sldIdLst>
        </p14:section>
        <p14:section name="The problem" id="{662BF83B-E774-6164-50D2-11EB504CA2EE}">
          <p14:sldIdLst>
            <p14:sldId id="257"/>
            <p14:sldId id="258"/>
            <p14:sldId id="259"/>
          </p14:sldIdLst>
        </p14:section>
        <p14:section name="The method" id="{ABA6204A-D3DE-01B8-1355-F2E94B6BD122}">
          <p14:sldIdLst>
            <p14:sldId id="260"/>
            <p14:sldId id="261"/>
            <p14:sldId id="262"/>
          </p14:sldIdLst>
        </p14:section>
        <p14:section name="The limits" id="{9DE8ED46-A8B6-AF92-BDC3-366362EE5716}">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0681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about how to hand work to an AI coding agent so that the first result is close to what you wanted, instead of spending the session correcting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using coding agents know this loop. The output is close but not right, so you explain what you meant and try again. The rest of the talk is about doing that explaining before the agent starts.
Figure alt text: Four steps in a loop: you prompt, the agent builds, you review, you correct, and the loop repeats.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a reasonable question, and the agent will pick an answer for every one of them. When its answer differs from the one you had in mind, that difference becomes the next correction.
Figure alt text: A one-line request passes through an agent, which has to answer five decisions about scope, protection, and completion.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agent result is wrong, it is usually one of these. It went outside what you meant, it stopped before the work was verified, or it lost track of earlier decisions. A more capable model makes the same mistakes faster.
Figure alt text: Three panels showing scope creep, unverified completion, and lost context between sessions.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unit is defined by whether you can say what it does, what it leaves alone, and how you would confirm it works. Its size follows from that. Click once to show the three rules for judging whether a unit is ready.
Figure alt text: A task card with an outcome, boundaries, and a check for a password reset, next to three rules for judging whether a unit is ready.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request from slide 3 again. Each unit says what you would run to confirm it, so you and the agent agree on what finished means before it starts.
Figure alt text: The authentication request split into three numbered units, each with a check and a green check mark.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steps take a few minutes. The plan file matters because it outlasts the conversation: the agent can tick off units as their checks pass, and a new session can pick up from the file.
Figure alt text: Four planning steps next to an example plan file for the authentication 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already use plan mode. It is useful, but it plans from your request, so the decisions you skipped are still missing from the plan. Read it the way you would read a teammate's proposal.
Figure alt text: A vague request goes into plan mode and comes out as a plan that looks complete but can still miss the intent.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is overhead you pay before any code appears, so it is easy to skip. For a quick script that is the right call. For work that will be extended, shared, or hard to debug later, it is usually cheaper than the revision loop from the start of the talk. Click once to show the summary.
Figure alt text: Two columns comparing work that is worth planning with work that usually is not.
AI-use disclosure: Claude Code assisted with ideation, drafting, visual specifications, and development of the demonstration harness. Tripp Robinson selected the topic, the argument, and the final presentation choices; any live demonstration results are reported as observed.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77240" y="2011680"/>
            <a:ext cx="7498080" cy="1737360"/>
          </a:xfrm>
          <a:prstGeom prst="rect">
            <a:avLst/>
          </a:prstGeom>
          <a:noFill/>
          <a:ln/>
        </p:spPr>
        <p:txBody>
          <a:bodyPr wrap="square" rtlCol="0"/>
          <a:lstStyle>
            <a:lvl1pPr marL="0" indent="0" algn="l">
              <a:buNone/>
              <a:defRPr lang="en-US" sz="5400" dirty="0">
                <a:solidFill>
                  <a:schemeClr val="bg1"/>
                </a:solidFill>
              </a:defRPr>
            </a:lvl1pPr>
          </a:lstStyle>
          <a:p>
            <a:pPr marL="0" indent="0" algn="l">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rchment titl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77240" y="320040"/>
            <a:ext cx="10789920" cy="1051560"/>
          </a:xfrm>
          <a:prstGeom prst="rect">
            <a:avLst/>
          </a:prstGeom>
          <a:noFill/>
          <a:ln/>
        </p:spPr>
        <p:txBody>
          <a:bodyPr wrap="square" rtlCol="0"/>
          <a:lstStyle>
            <a:lvl1pPr marL="0" indent="0" algn="l">
              <a:buNone/>
              <a:defRPr lang="en-US" sz="3200" dirty="0">
                <a:solidFill>
                  <a:schemeClr val="tx1"/>
                </a:solidFill>
              </a:defRPr>
            </a:lvl1pPr>
          </a:lstStyle>
          <a:p>
            <a:pPr marL="0" indent="0" algn="l">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roon title">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77240" y="320040"/>
            <a:ext cx="10789920" cy="1051560"/>
          </a:xfrm>
          <a:prstGeom prst="rect">
            <a:avLst/>
          </a:prstGeom>
          <a:noFill/>
          <a:ln/>
        </p:spPr>
        <p:txBody>
          <a:bodyPr wrap="square" rtlCol="0"/>
          <a:lstStyle>
            <a:lvl1pPr marL="0" indent="0" algn="l">
              <a:buNone/>
              <a:defRPr lang="en-US" sz="3200" dirty="0">
                <a:solidFill>
                  <a:schemeClr val="bg1"/>
                </a:solidFill>
              </a:defRPr>
            </a:lvl1pPr>
          </a:lstStyle>
          <a:p>
            <a:pPr marL="0" indent="0" algn="l">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grpSp>
        <p:nvGrpSpPr>
          <p:cNvPr id="23" name="Progress marker" descr="Progress marker: slide 1 of 9"/>
          <p:cNvGrpSpPr/>
          <p:nvPr/>
        </p:nvGrpSpPr>
        <p:grpSpPr>
          <a:xfrm>
            <a:off x="0" y="0"/>
            <a:ext cx="292608" cy="6858000"/>
            <a:chOff x="0" y="0"/>
            <a:chExt cx="292608" cy="6858000"/>
          </a:xfrm>
        </p:grpSpPr>
        <p:sp>
          <p:nvSpPr>
            <p:cNvPr id="2" name="prog|strip"/>
            <p:cNvSpPr/>
            <p:nvPr/>
          </p:nvSpPr>
          <p:spPr>
            <a:xfrm>
              <a:off x="0" y="0"/>
              <a:ext cx="292608" cy="6858000"/>
            </a:xfrm>
            <a:prstGeom prst="rect">
              <a:avLst/>
            </a:prstGeom>
            <a:solidFill>
              <a:schemeClr val="accent6"/>
            </a:solidFill>
            <a:ln/>
          </p:spPr>
          <p:txBody>
            <a:bodyPr/>
            <a:lstStyle/>
            <a:p>
              <a:endParaRPr lang="en-US"/>
            </a:p>
          </p:txBody>
        </p:sp>
        <p:sp>
          <p:nvSpPr>
            <p:cNvPr id="3" name="prog|dot1"/>
            <p:cNvSpPr/>
            <p:nvPr/>
          </p:nvSpPr>
          <p:spPr>
            <a:xfrm>
              <a:off x="64008" y="923544"/>
              <a:ext cx="164592" cy="164592"/>
            </a:xfrm>
            <a:prstGeom prst="ellipse">
              <a:avLst/>
            </a:prstGeom>
            <a:solidFill>
              <a:schemeClr val="bg1"/>
            </a:solidFill>
            <a:ln/>
          </p:spPr>
          <p:txBody>
            <a:bodyPr/>
            <a:lstStyle/>
            <a:p>
              <a:endParaRPr lang="en-US"/>
            </a:p>
          </p:txBody>
        </p:sp>
        <p:sp>
          <p:nvSpPr>
            <p:cNvPr id="4" name="prog|dot2"/>
            <p:cNvSpPr/>
            <p:nvPr/>
          </p:nvSpPr>
          <p:spPr>
            <a:xfrm>
              <a:off x="109728" y="1575054"/>
              <a:ext cx="73152" cy="73152"/>
            </a:xfrm>
            <a:prstGeom prst="ellipse">
              <a:avLst/>
            </a:prstGeom>
            <a:solidFill>
              <a:schemeClr val="accent2">
                <a:alpha val="65000"/>
              </a:schemeClr>
            </a:solidFill>
            <a:ln/>
          </p:spPr>
          <p:txBody>
            <a:bodyPr/>
            <a:lstStyle/>
            <a:p>
              <a:endParaRPr lang="en-US"/>
            </a:p>
          </p:txBody>
        </p:sp>
        <p:sp>
          <p:nvSpPr>
            <p:cNvPr id="5" name="prog|dot3"/>
            <p:cNvSpPr/>
            <p:nvPr/>
          </p:nvSpPr>
          <p:spPr>
            <a:xfrm>
              <a:off x="109728" y="2180844"/>
              <a:ext cx="73152" cy="73152"/>
            </a:xfrm>
            <a:prstGeom prst="ellipse">
              <a:avLst/>
            </a:prstGeom>
            <a:solidFill>
              <a:schemeClr val="accent2">
                <a:alpha val="65000"/>
              </a:schemeClr>
            </a:solidFill>
            <a:ln/>
          </p:spPr>
          <p:txBody>
            <a:bodyPr/>
            <a:lstStyle/>
            <a:p>
              <a:endParaRPr lang="en-US"/>
            </a:p>
          </p:txBody>
        </p:sp>
        <p:sp>
          <p:nvSpPr>
            <p:cNvPr id="6" name="prog|dot4"/>
            <p:cNvSpPr/>
            <p:nvPr/>
          </p:nvSpPr>
          <p:spPr>
            <a:xfrm>
              <a:off x="109728" y="2786634"/>
              <a:ext cx="73152" cy="73152"/>
            </a:xfrm>
            <a:prstGeom prst="ellipse">
              <a:avLst/>
            </a:prstGeom>
            <a:solidFill>
              <a:schemeClr val="accent2">
                <a:alpha val="65000"/>
              </a:schemeClr>
            </a:solidFill>
            <a:ln/>
          </p:spPr>
          <p:txBody>
            <a:bodyPr/>
            <a:lstStyle/>
            <a:p>
              <a:endParaRPr lang="en-US"/>
            </a:p>
          </p:txBody>
        </p:sp>
        <p:sp>
          <p:nvSpPr>
            <p:cNvPr id="7" name="prog|dot5"/>
            <p:cNvSpPr/>
            <p:nvPr/>
          </p:nvSpPr>
          <p:spPr>
            <a:xfrm>
              <a:off x="109728" y="3392424"/>
              <a:ext cx="73152" cy="73152"/>
            </a:xfrm>
            <a:prstGeom prst="ellipse">
              <a:avLst/>
            </a:prstGeom>
            <a:solidFill>
              <a:schemeClr val="accent2">
                <a:alpha val="65000"/>
              </a:schemeClr>
            </a:solidFill>
            <a:ln/>
          </p:spPr>
          <p:txBody>
            <a:bodyPr/>
            <a:lstStyle/>
            <a:p>
              <a:endParaRPr lang="en-US"/>
            </a:p>
          </p:txBody>
        </p:sp>
        <p:sp>
          <p:nvSpPr>
            <p:cNvPr id="8" name="prog|dot6"/>
            <p:cNvSpPr/>
            <p:nvPr/>
          </p:nvSpPr>
          <p:spPr>
            <a:xfrm>
              <a:off x="109728" y="3998214"/>
              <a:ext cx="73152" cy="73152"/>
            </a:xfrm>
            <a:prstGeom prst="ellipse">
              <a:avLst/>
            </a:prstGeom>
            <a:solidFill>
              <a:schemeClr val="accent2">
                <a:alpha val="65000"/>
              </a:schemeClr>
            </a:solidFill>
            <a:ln/>
          </p:spPr>
          <p:txBody>
            <a:bodyPr/>
            <a:lstStyle/>
            <a:p>
              <a:endParaRPr lang="en-US"/>
            </a:p>
          </p:txBody>
        </p:sp>
        <p:sp>
          <p:nvSpPr>
            <p:cNvPr id="9" name="prog|dot7"/>
            <p:cNvSpPr/>
            <p:nvPr/>
          </p:nvSpPr>
          <p:spPr>
            <a:xfrm>
              <a:off x="109728" y="4604004"/>
              <a:ext cx="73152" cy="73152"/>
            </a:xfrm>
            <a:prstGeom prst="ellipse">
              <a:avLst/>
            </a:prstGeom>
            <a:solidFill>
              <a:schemeClr val="accent2">
                <a:alpha val="65000"/>
              </a:schemeClr>
            </a:solidFill>
            <a:ln/>
          </p:spPr>
          <p:txBody>
            <a:bodyPr/>
            <a:lstStyle/>
            <a:p>
              <a:endParaRPr lang="en-US"/>
            </a:p>
          </p:txBody>
        </p:sp>
        <p:sp>
          <p:nvSpPr>
            <p:cNvPr id="10" name="prog|dot8"/>
            <p:cNvSpPr/>
            <p:nvPr/>
          </p:nvSpPr>
          <p:spPr>
            <a:xfrm>
              <a:off x="109728" y="5209794"/>
              <a:ext cx="73152" cy="73152"/>
            </a:xfrm>
            <a:prstGeom prst="ellipse">
              <a:avLst/>
            </a:prstGeom>
            <a:solidFill>
              <a:schemeClr val="accent2">
                <a:alpha val="65000"/>
              </a:schemeClr>
            </a:solidFill>
            <a:ln/>
          </p:spPr>
          <p:txBody>
            <a:bodyPr/>
            <a:lstStyle/>
            <a:p>
              <a:endParaRPr lang="en-US"/>
            </a:p>
          </p:txBody>
        </p:sp>
        <p:sp>
          <p:nvSpPr>
            <p:cNvPr id="11" name="prog|dot9"/>
            <p:cNvSpPr/>
            <p:nvPr/>
          </p:nvSpPr>
          <p:spPr>
            <a:xfrm>
              <a:off x="109728" y="5815584"/>
              <a:ext cx="73152" cy="73152"/>
            </a:xfrm>
            <a:prstGeom prst="ellipse">
              <a:avLst/>
            </a:prstGeom>
            <a:solidFill>
              <a:schemeClr val="accent2">
                <a:alpha val="65000"/>
              </a:schemeClr>
            </a:solidFill>
            <a:ln/>
          </p:spPr>
          <p:txBody>
            <a:bodyPr/>
            <a:lstStyle/>
            <a:p>
              <a:endParaRPr lang="en-US"/>
            </a:p>
          </p:txBody>
        </p:sp>
      </p:grpSp>
      <p:sp>
        <p:nvSpPr>
          <p:cNvPr id="12" name="Text 0"/>
          <p:cNvSpPr>
            <a:spLocks noGrp="1"/>
          </p:cNvSpPr>
          <p:nvPr>
            <p:ph type="title" idx="100" hasCustomPrompt="1"/>
          </p:nvPr>
        </p:nvSpPr>
        <p:spPr>
          <a:xfrm>
            <a:off x="777240" y="2011680"/>
            <a:ext cx="7498080" cy="1737360"/>
          </a:xfrm>
          <a:prstGeom prst="rect">
            <a:avLst/>
          </a:prstGeom>
          <a:noFill/>
          <a:ln/>
        </p:spPr>
        <p:txBody>
          <a:bodyPr wrap="square" lIns="0" tIns="0" rIns="0" bIns="0" rtlCol="0" anchor="b"/>
          <a:lstStyle/>
          <a:p>
            <a:pPr marL="0" indent="0" algn="l">
              <a:buNone/>
            </a:pPr>
            <a:r>
              <a:rPr lang="en-US" sz="5400" dirty="0">
                <a:solidFill>
                  <a:schemeClr val="bg1"/>
                </a:solidFill>
              </a:rPr>
              <a:t>Task Decomposition and Planning</a:t>
            </a:r>
            <a:endParaRPr lang="en-US" sz="5400" dirty="0"/>
          </a:p>
        </p:txBody>
      </p:sp>
      <p:sp>
        <p:nvSpPr>
          <p:cNvPr id="13" name="Text 11"/>
          <p:cNvSpPr txBox="1"/>
          <p:nvPr/>
        </p:nvSpPr>
        <p:spPr>
          <a:xfrm>
            <a:off x="777240" y="3931920"/>
            <a:ext cx="7498080" cy="822960"/>
          </a:xfrm>
          <a:prstGeom prst="rect">
            <a:avLst/>
          </a:prstGeom>
          <a:noFill/>
          <a:ln/>
        </p:spPr>
        <p:txBody>
          <a:bodyPr wrap="square" lIns="0" tIns="0" rIns="0" bIns="0" rtlCol="0" anchor="t"/>
          <a:lstStyle/>
          <a:p>
            <a:pPr marL="0" indent="0">
              <a:buNone/>
            </a:pPr>
            <a:r>
              <a:rPr lang="en-US" sz="2600" dirty="0">
                <a:solidFill>
                  <a:schemeClr val="accent2"/>
                </a:solidFill>
              </a:rPr>
              <a:t>Breaking down work for AI coding agents before they start</a:t>
            </a:r>
            <a:endParaRPr lang="en-US" sz="2600" dirty="0"/>
          </a:p>
        </p:txBody>
      </p:sp>
      <p:sp>
        <p:nvSpPr>
          <p:cNvPr id="14" name="Text 12"/>
          <p:cNvSpPr txBox="1"/>
          <p:nvPr/>
        </p:nvSpPr>
        <p:spPr>
          <a:xfrm>
            <a:off x="777240" y="5029200"/>
            <a:ext cx="7498080" cy="457200"/>
          </a:xfrm>
          <a:prstGeom prst="rect">
            <a:avLst/>
          </a:prstGeom>
          <a:noFill/>
          <a:ln/>
        </p:spPr>
        <p:txBody>
          <a:bodyPr wrap="square" lIns="0" tIns="0" rIns="0" bIns="0" rtlCol="0" anchor="t"/>
          <a:lstStyle/>
          <a:p>
            <a:pPr marL="0" indent="0">
              <a:buNone/>
            </a:pPr>
            <a:r>
              <a:rPr lang="en-US" sz="2200" dirty="0">
                <a:solidFill>
                  <a:schemeClr val="bg1"/>
                </a:solidFill>
              </a:rPr>
              <a:t>Tripp Robinson  ·  ENGR689</a:t>
            </a:r>
            <a:endParaRPr lang="en-US" sz="2200" dirty="0"/>
          </a:p>
        </p:txBody>
      </p:sp>
      <p:grpSp>
        <p:nvGrpSpPr>
          <p:cNvPr id="24" name="Figure" descr="An empty task card outline with lines for outcome, boundaries, and check."/>
          <p:cNvGrpSpPr/>
          <p:nvPr/>
        </p:nvGrpSpPr>
        <p:grpSpPr>
          <a:xfrm>
            <a:off x="8915400" y="1737360"/>
            <a:ext cx="2651760" cy="3383280"/>
            <a:chOff x="8915400" y="1737360"/>
            <a:chExt cx="2651760" cy="3383280"/>
          </a:xfrm>
        </p:grpSpPr>
        <p:sp>
          <p:nvSpPr>
            <p:cNvPr id="15" name="fig|title-tag"/>
            <p:cNvSpPr/>
            <p:nvPr/>
          </p:nvSpPr>
          <p:spPr>
            <a:xfrm>
              <a:off x="8915400" y="1737360"/>
              <a:ext cx="2651760" cy="3383280"/>
            </a:xfrm>
            <a:custGeom>
              <a:avLst/>
              <a:gdLst/>
              <a:ahLst/>
              <a:cxnLst/>
              <a:rect l="l" t="t" r="r" b="b"/>
              <a:pathLst>
                <a:path w="2651760" h="3383280">
                  <a:moveTo>
                    <a:pt x="365760" y="0"/>
                  </a:moveTo>
                  <a:lnTo>
                    <a:pt x="2651760" y="0"/>
                  </a:lnTo>
                  <a:lnTo>
                    <a:pt x="2651760" y="3017520"/>
                  </a:lnTo>
                  <a:lnTo>
                    <a:pt x="2286000" y="3383280"/>
                  </a:lnTo>
                  <a:lnTo>
                    <a:pt x="365760" y="3383280"/>
                  </a:lnTo>
                  <a:lnTo>
                    <a:pt x="0" y="3017520"/>
                  </a:lnTo>
                  <a:lnTo>
                    <a:pt x="0" y="365760"/>
                  </a:lnTo>
                  <a:close/>
                </a:path>
              </a:pathLst>
            </a:custGeom>
            <a:ln w="25400">
              <a:solidFill>
                <a:schemeClr val="accent2"/>
              </a:solidFill>
              <a:prstDash val="solid"/>
            </a:ln>
          </p:spPr>
          <p:txBody>
            <a:bodyPr/>
            <a:lstStyle/>
            <a:p>
              <a:endParaRPr lang="en-US"/>
            </a:p>
          </p:txBody>
        </p:sp>
        <p:sp>
          <p:nvSpPr>
            <p:cNvPr id="16" name="fig|title-tag-hole"/>
            <p:cNvSpPr/>
            <p:nvPr/>
          </p:nvSpPr>
          <p:spPr>
            <a:xfrm>
              <a:off x="11064240" y="2011680"/>
              <a:ext cx="228600" cy="228600"/>
            </a:xfrm>
            <a:prstGeom prst="ellipse">
              <a:avLst/>
            </a:prstGeom>
            <a:ln w="25400">
              <a:solidFill>
                <a:schemeClr val="accent2"/>
              </a:solidFill>
              <a:prstDash val="solid"/>
            </a:ln>
          </p:spPr>
          <p:txBody>
            <a:bodyPr/>
            <a:lstStyle/>
            <a:p>
              <a:endParaRPr lang="en-US"/>
            </a:p>
          </p:txBody>
        </p:sp>
        <p:sp>
          <p:nvSpPr>
            <p:cNvPr id="17" name="fig|title-tag-term"/>
            <p:cNvSpPr txBox="1"/>
            <p:nvPr/>
          </p:nvSpPr>
          <p:spPr>
            <a:xfrm>
              <a:off x="9281160" y="2514600"/>
              <a:ext cx="1920240" cy="365760"/>
            </a:xfrm>
            <a:prstGeom prst="rect">
              <a:avLst/>
            </a:prstGeom>
            <a:noFill/>
            <a:ln/>
          </p:spPr>
          <p:txBody>
            <a:bodyPr wrap="square" lIns="0" tIns="0" rIns="0" bIns="0" rtlCol="0" anchor="t"/>
            <a:lstStyle/>
            <a:p>
              <a:pPr marL="0" indent="0">
                <a:buNone/>
              </a:pPr>
              <a:r>
                <a:rPr lang="en-US" sz="1800" dirty="0">
                  <a:solidFill>
                    <a:schemeClr val="accent2"/>
                  </a:solidFill>
                  <a:latin typeface="Consolas" pitchFamily="34" charset="0"/>
                  <a:ea typeface="Consolas" pitchFamily="34" charset="-122"/>
                  <a:cs typeface="Consolas" pitchFamily="34" charset="-120"/>
                </a:rPr>
                <a:t>outcome</a:t>
              </a:r>
              <a:endParaRPr lang="en-US" sz="1800" dirty="0"/>
            </a:p>
          </p:txBody>
        </p:sp>
        <p:sp>
          <p:nvSpPr>
            <p:cNvPr id="18" name="fig|title-tag-rule"/>
            <p:cNvSpPr/>
            <p:nvPr/>
          </p:nvSpPr>
          <p:spPr>
            <a:xfrm>
              <a:off x="9281160" y="2926080"/>
              <a:ext cx="1920240" cy="0"/>
            </a:xfrm>
            <a:prstGeom prst="line">
              <a:avLst/>
            </a:prstGeom>
            <a:noFill/>
            <a:ln w="12700">
              <a:solidFill>
                <a:schemeClr val="accent2">
                  <a:alpha val="50000"/>
                </a:schemeClr>
              </a:solidFill>
              <a:prstDash val="solid"/>
            </a:ln>
          </p:spPr>
          <p:txBody>
            <a:bodyPr/>
            <a:lstStyle/>
            <a:p>
              <a:endParaRPr lang="en-US"/>
            </a:p>
          </p:txBody>
        </p:sp>
        <p:sp>
          <p:nvSpPr>
            <p:cNvPr id="19" name="fig|title-tag-term"/>
            <p:cNvSpPr txBox="1"/>
            <p:nvPr/>
          </p:nvSpPr>
          <p:spPr>
            <a:xfrm>
              <a:off x="9281160" y="3291840"/>
              <a:ext cx="1920240" cy="365760"/>
            </a:xfrm>
            <a:prstGeom prst="rect">
              <a:avLst/>
            </a:prstGeom>
            <a:noFill/>
            <a:ln/>
          </p:spPr>
          <p:txBody>
            <a:bodyPr wrap="square" lIns="0" tIns="0" rIns="0" bIns="0" rtlCol="0" anchor="t"/>
            <a:lstStyle/>
            <a:p>
              <a:pPr marL="0" indent="0">
                <a:buNone/>
              </a:pPr>
              <a:r>
                <a:rPr lang="en-US" sz="1800" dirty="0">
                  <a:solidFill>
                    <a:schemeClr val="accent2"/>
                  </a:solidFill>
                  <a:latin typeface="Consolas" pitchFamily="34" charset="0"/>
                  <a:ea typeface="Consolas" pitchFamily="34" charset="-122"/>
                  <a:cs typeface="Consolas" pitchFamily="34" charset="-120"/>
                </a:rPr>
                <a:t>boundaries</a:t>
              </a:r>
              <a:endParaRPr lang="en-US" sz="1800" dirty="0"/>
            </a:p>
          </p:txBody>
        </p:sp>
        <p:sp>
          <p:nvSpPr>
            <p:cNvPr id="20" name="fig|title-tag-rule"/>
            <p:cNvSpPr/>
            <p:nvPr/>
          </p:nvSpPr>
          <p:spPr>
            <a:xfrm>
              <a:off x="9281160" y="3703320"/>
              <a:ext cx="1920240" cy="0"/>
            </a:xfrm>
            <a:prstGeom prst="line">
              <a:avLst/>
            </a:prstGeom>
            <a:noFill/>
            <a:ln w="12700">
              <a:solidFill>
                <a:schemeClr val="accent2">
                  <a:alpha val="50000"/>
                </a:schemeClr>
              </a:solidFill>
              <a:prstDash val="solid"/>
            </a:ln>
          </p:spPr>
          <p:txBody>
            <a:bodyPr/>
            <a:lstStyle/>
            <a:p>
              <a:endParaRPr lang="en-US"/>
            </a:p>
          </p:txBody>
        </p:sp>
        <p:sp>
          <p:nvSpPr>
            <p:cNvPr id="21" name="fig|title-tag-term"/>
            <p:cNvSpPr txBox="1"/>
            <p:nvPr/>
          </p:nvSpPr>
          <p:spPr>
            <a:xfrm>
              <a:off x="9281160" y="4069080"/>
              <a:ext cx="1920240" cy="365760"/>
            </a:xfrm>
            <a:prstGeom prst="rect">
              <a:avLst/>
            </a:prstGeom>
            <a:noFill/>
            <a:ln/>
          </p:spPr>
          <p:txBody>
            <a:bodyPr wrap="square" lIns="0" tIns="0" rIns="0" bIns="0" rtlCol="0" anchor="t"/>
            <a:lstStyle/>
            <a:p>
              <a:pPr marL="0" indent="0">
                <a:buNone/>
              </a:pPr>
              <a:r>
                <a:rPr lang="en-US" sz="1800" dirty="0">
                  <a:solidFill>
                    <a:schemeClr val="accent2"/>
                  </a:solidFill>
                  <a:latin typeface="Consolas" pitchFamily="34" charset="0"/>
                  <a:ea typeface="Consolas" pitchFamily="34" charset="-122"/>
                  <a:cs typeface="Consolas" pitchFamily="34" charset="-120"/>
                </a:rPr>
                <a:t>check</a:t>
              </a:r>
              <a:endParaRPr lang="en-US" sz="1800" dirty="0"/>
            </a:p>
          </p:txBody>
        </p:sp>
        <p:sp>
          <p:nvSpPr>
            <p:cNvPr id="22" name="fig|title-tag-rule"/>
            <p:cNvSpPr/>
            <p:nvPr/>
          </p:nvSpPr>
          <p:spPr>
            <a:xfrm>
              <a:off x="9281160" y="4480560"/>
              <a:ext cx="1920240" cy="0"/>
            </a:xfrm>
            <a:prstGeom prst="line">
              <a:avLst/>
            </a:prstGeom>
            <a:noFill/>
            <a:ln w="12700">
              <a:solidFill>
                <a:schemeClr val="accent2">
                  <a:alpha val="50000"/>
                </a:schemeClr>
              </a:solidFill>
              <a:prstDash val="solid"/>
            </a:ln>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grpSp>
        <p:nvGrpSpPr>
          <p:cNvPr id="30" name="Progress marker" descr="Progress marker: slide 2 of 9"/>
          <p:cNvGrpSpPr/>
          <p:nvPr/>
        </p:nvGrpSpPr>
        <p:grpSpPr>
          <a:xfrm>
            <a:off x="0" y="0"/>
            <a:ext cx="292608" cy="6858000"/>
            <a:chOff x="0" y="0"/>
            <a:chExt cx="292608" cy="6858000"/>
          </a:xfrm>
        </p:grpSpPr>
        <p:sp>
          <p:nvSpPr>
            <p:cNvPr id="2" name="prog|strip"/>
            <p:cNvSpPr/>
            <p:nvPr/>
          </p:nvSpPr>
          <p:spPr>
            <a:xfrm>
              <a:off x="0" y="0"/>
              <a:ext cx="292608" cy="6858000"/>
            </a:xfrm>
            <a:prstGeom prst="rect">
              <a:avLst/>
            </a:prstGeom>
            <a:solidFill>
              <a:schemeClr val="accent1"/>
            </a:solidFill>
            <a:ln/>
          </p:spPr>
          <p:txBody>
            <a:bodyPr/>
            <a:lstStyle/>
            <a:p>
              <a:endParaRPr lang="en-US"/>
            </a:p>
          </p:txBody>
        </p:sp>
        <p:sp>
          <p:nvSpPr>
            <p:cNvPr id="3" name="prog|dot1"/>
            <p:cNvSpPr/>
            <p:nvPr/>
          </p:nvSpPr>
          <p:spPr>
            <a:xfrm>
              <a:off x="109728" y="969264"/>
              <a:ext cx="73152" cy="73152"/>
            </a:xfrm>
            <a:prstGeom prst="ellipse">
              <a:avLst/>
            </a:prstGeom>
            <a:solidFill>
              <a:schemeClr val="accent2">
                <a:alpha val="65000"/>
              </a:schemeClr>
            </a:solidFill>
            <a:ln/>
          </p:spPr>
          <p:txBody>
            <a:bodyPr/>
            <a:lstStyle/>
            <a:p>
              <a:endParaRPr lang="en-US"/>
            </a:p>
          </p:txBody>
        </p:sp>
        <p:sp>
          <p:nvSpPr>
            <p:cNvPr id="4" name="prog|dot2"/>
            <p:cNvSpPr/>
            <p:nvPr/>
          </p:nvSpPr>
          <p:spPr>
            <a:xfrm>
              <a:off x="64008" y="1529334"/>
              <a:ext cx="164592" cy="164592"/>
            </a:xfrm>
            <a:prstGeom prst="ellipse">
              <a:avLst/>
            </a:prstGeom>
            <a:solidFill>
              <a:schemeClr val="bg1"/>
            </a:solidFill>
            <a:ln/>
          </p:spPr>
          <p:txBody>
            <a:bodyPr/>
            <a:lstStyle/>
            <a:p>
              <a:endParaRPr lang="en-US"/>
            </a:p>
          </p:txBody>
        </p:sp>
        <p:sp>
          <p:nvSpPr>
            <p:cNvPr id="5" name="prog|dot3"/>
            <p:cNvSpPr/>
            <p:nvPr/>
          </p:nvSpPr>
          <p:spPr>
            <a:xfrm>
              <a:off x="109728" y="2180844"/>
              <a:ext cx="73152" cy="73152"/>
            </a:xfrm>
            <a:prstGeom prst="ellipse">
              <a:avLst/>
            </a:prstGeom>
            <a:solidFill>
              <a:schemeClr val="accent2">
                <a:alpha val="65000"/>
              </a:schemeClr>
            </a:solidFill>
            <a:ln/>
          </p:spPr>
          <p:txBody>
            <a:bodyPr/>
            <a:lstStyle/>
            <a:p>
              <a:endParaRPr lang="en-US"/>
            </a:p>
          </p:txBody>
        </p:sp>
        <p:sp>
          <p:nvSpPr>
            <p:cNvPr id="6" name="prog|dot4"/>
            <p:cNvSpPr/>
            <p:nvPr/>
          </p:nvSpPr>
          <p:spPr>
            <a:xfrm>
              <a:off x="109728" y="2786634"/>
              <a:ext cx="73152" cy="73152"/>
            </a:xfrm>
            <a:prstGeom prst="ellipse">
              <a:avLst/>
            </a:prstGeom>
            <a:solidFill>
              <a:schemeClr val="accent2">
                <a:alpha val="65000"/>
              </a:schemeClr>
            </a:solidFill>
            <a:ln/>
          </p:spPr>
          <p:txBody>
            <a:bodyPr/>
            <a:lstStyle/>
            <a:p>
              <a:endParaRPr lang="en-US"/>
            </a:p>
          </p:txBody>
        </p:sp>
        <p:sp>
          <p:nvSpPr>
            <p:cNvPr id="7" name="prog|dot5"/>
            <p:cNvSpPr/>
            <p:nvPr/>
          </p:nvSpPr>
          <p:spPr>
            <a:xfrm>
              <a:off x="109728" y="3392424"/>
              <a:ext cx="73152" cy="73152"/>
            </a:xfrm>
            <a:prstGeom prst="ellipse">
              <a:avLst/>
            </a:prstGeom>
            <a:solidFill>
              <a:schemeClr val="accent2">
                <a:alpha val="65000"/>
              </a:schemeClr>
            </a:solidFill>
            <a:ln/>
          </p:spPr>
          <p:txBody>
            <a:bodyPr/>
            <a:lstStyle/>
            <a:p>
              <a:endParaRPr lang="en-US"/>
            </a:p>
          </p:txBody>
        </p:sp>
        <p:sp>
          <p:nvSpPr>
            <p:cNvPr id="8" name="prog|dot6"/>
            <p:cNvSpPr/>
            <p:nvPr/>
          </p:nvSpPr>
          <p:spPr>
            <a:xfrm>
              <a:off x="109728" y="3998214"/>
              <a:ext cx="73152" cy="73152"/>
            </a:xfrm>
            <a:prstGeom prst="ellipse">
              <a:avLst/>
            </a:prstGeom>
            <a:solidFill>
              <a:schemeClr val="accent2">
                <a:alpha val="65000"/>
              </a:schemeClr>
            </a:solidFill>
            <a:ln/>
          </p:spPr>
          <p:txBody>
            <a:bodyPr/>
            <a:lstStyle/>
            <a:p>
              <a:endParaRPr lang="en-US"/>
            </a:p>
          </p:txBody>
        </p:sp>
        <p:sp>
          <p:nvSpPr>
            <p:cNvPr id="9" name="prog|dot7"/>
            <p:cNvSpPr/>
            <p:nvPr/>
          </p:nvSpPr>
          <p:spPr>
            <a:xfrm>
              <a:off x="109728" y="4604004"/>
              <a:ext cx="73152" cy="73152"/>
            </a:xfrm>
            <a:prstGeom prst="ellipse">
              <a:avLst/>
            </a:prstGeom>
            <a:solidFill>
              <a:schemeClr val="accent2">
                <a:alpha val="65000"/>
              </a:schemeClr>
            </a:solidFill>
            <a:ln/>
          </p:spPr>
          <p:txBody>
            <a:bodyPr/>
            <a:lstStyle/>
            <a:p>
              <a:endParaRPr lang="en-US"/>
            </a:p>
          </p:txBody>
        </p:sp>
        <p:sp>
          <p:nvSpPr>
            <p:cNvPr id="10" name="prog|dot8"/>
            <p:cNvSpPr/>
            <p:nvPr/>
          </p:nvSpPr>
          <p:spPr>
            <a:xfrm>
              <a:off x="109728" y="5209794"/>
              <a:ext cx="73152" cy="73152"/>
            </a:xfrm>
            <a:prstGeom prst="ellipse">
              <a:avLst/>
            </a:prstGeom>
            <a:solidFill>
              <a:schemeClr val="accent2">
                <a:alpha val="65000"/>
              </a:schemeClr>
            </a:solidFill>
            <a:ln/>
          </p:spPr>
          <p:txBody>
            <a:bodyPr/>
            <a:lstStyle/>
            <a:p>
              <a:endParaRPr lang="en-US"/>
            </a:p>
          </p:txBody>
        </p:sp>
        <p:sp>
          <p:nvSpPr>
            <p:cNvPr id="11" name="prog|dot9"/>
            <p:cNvSpPr/>
            <p:nvPr/>
          </p:nvSpPr>
          <p:spPr>
            <a:xfrm>
              <a:off x="109728" y="5815584"/>
              <a:ext cx="73152" cy="73152"/>
            </a:xfrm>
            <a:prstGeom prst="ellipse">
              <a:avLst/>
            </a:prstGeom>
            <a:solidFill>
              <a:schemeClr val="accent2">
                <a:alpha val="65000"/>
              </a:schemeClr>
            </a:solidFill>
            <a:ln/>
          </p:spPr>
          <p:txBody>
            <a:bodyPr/>
            <a:lstStyle/>
            <a:p>
              <a:endParaRPr lang="en-US"/>
            </a:p>
          </p:txBody>
        </p:sp>
      </p:grpSp>
      <p:sp>
        <p:nvSpPr>
          <p:cNvPr id="12" name="Text 0"/>
          <p:cNvSpPr>
            <a:spLocks noGrp="1"/>
          </p:cNvSpPr>
          <p:nvPr>
            <p:ph type="title" idx="100" hasCustomPrompt="1"/>
          </p:nvPr>
        </p:nvSpPr>
        <p:spPr>
          <a:xfrm>
            <a:off x="777240" y="320040"/>
            <a:ext cx="10789920" cy="1051560"/>
          </a:xfrm>
          <a:prstGeom prst="rect">
            <a:avLst/>
          </a:prstGeom>
          <a:noFill/>
          <a:ln/>
        </p:spPr>
        <p:txBody>
          <a:bodyPr wrap="square" lIns="0" tIns="0" rIns="0" bIns="0" rtlCol="0" anchor="ctr"/>
          <a:lstStyle/>
          <a:p>
            <a:pPr marL="0" indent="0" algn="l">
              <a:buNone/>
            </a:pPr>
            <a:r>
              <a:rPr lang="en-US" sz="3200" dirty="0">
                <a:solidFill>
                  <a:schemeClr val="tx1"/>
                </a:solidFill>
              </a:rPr>
              <a:t>Vague requests usually lead to several rounds of revision</a:t>
            </a:r>
            <a:endParaRPr lang="en-US" sz="3200" dirty="0"/>
          </a:p>
        </p:txBody>
      </p:sp>
      <p:sp>
        <p:nvSpPr>
          <p:cNvPr id="13" name="Text 11"/>
          <p:cNvSpPr txBox="1"/>
          <p:nvPr/>
        </p:nvSpPr>
        <p:spPr>
          <a:xfrm>
            <a:off x="777240" y="1554480"/>
            <a:ext cx="10789920" cy="1051560"/>
          </a:xfrm>
          <a:prstGeom prst="rect">
            <a:avLst/>
          </a:prstGeom>
          <a:noFill/>
          <a:ln/>
        </p:spPr>
        <p:txBody>
          <a:bodyPr wrap="square" lIns="0" tIns="0" rIns="0" bIns="0" rtlCol="0" anchor="t"/>
          <a:lstStyle/>
          <a:p>
            <a:pPr marL="0" indent="0">
              <a:buNone/>
            </a:pPr>
            <a:r>
              <a:rPr lang="en-US" sz="2200" dirty="0">
                <a:solidFill>
                  <a:schemeClr val="tx1"/>
                </a:solidFill>
              </a:rPr>
              <a:t>A typical session goes like this: you describe what you want, the agent builds something, and you correct it. Each correction means another review and another prompt.</a:t>
            </a:r>
            <a:endParaRPr lang="en-US" sz="2200" dirty="0"/>
          </a:p>
        </p:txBody>
      </p:sp>
      <p:grpSp>
        <p:nvGrpSpPr>
          <p:cNvPr id="31" name="Figure" descr="Four steps in a loop: you prompt, the agent builds, you review, you correct, and the loop repeats."/>
          <p:cNvGrpSpPr/>
          <p:nvPr/>
        </p:nvGrpSpPr>
        <p:grpSpPr>
          <a:xfrm>
            <a:off x="777240" y="3063240"/>
            <a:ext cx="10789920" cy="1965960"/>
            <a:chOff x="777240" y="3063240"/>
            <a:chExt cx="10789920" cy="1965960"/>
          </a:xfrm>
        </p:grpSpPr>
        <p:sp>
          <p:nvSpPr>
            <p:cNvPr id="14" name="fig|loop-step"/>
            <p:cNvSpPr/>
            <p:nvPr/>
          </p:nvSpPr>
          <p:spPr>
            <a:xfrm>
              <a:off x="777240" y="3063240"/>
              <a:ext cx="2286000" cy="1005840"/>
            </a:xfrm>
            <a:prstGeom prst="roundRect">
              <a:avLst>
                <a:gd name="adj" fmla="val 10909"/>
              </a:avLst>
            </a:prstGeom>
            <a:solidFill>
              <a:schemeClr val="bg2"/>
            </a:solidFill>
            <a:ln/>
          </p:spPr>
          <p:txBody>
            <a:bodyPr/>
            <a:lstStyle/>
            <a:p>
              <a:endParaRPr lang="en-US"/>
            </a:p>
          </p:txBody>
        </p:sp>
        <p:sp>
          <p:nvSpPr>
            <p:cNvPr id="15" name="fig|loop-label"/>
            <p:cNvSpPr txBox="1"/>
            <p:nvPr/>
          </p:nvSpPr>
          <p:spPr>
            <a:xfrm>
              <a:off x="960120" y="3063240"/>
              <a:ext cx="1920240" cy="1005840"/>
            </a:xfrm>
            <a:prstGeom prst="rect">
              <a:avLst/>
            </a:prstGeom>
            <a:noFill/>
            <a:ln/>
          </p:spPr>
          <p:txBody>
            <a:bodyPr wrap="square" lIns="0" tIns="0" rIns="0" bIns="0" rtlCol="0" anchor="ctr"/>
            <a:lstStyle/>
            <a:p>
              <a:pPr marL="0" indent="0" algn="ctr">
                <a:buNone/>
              </a:pPr>
              <a:r>
                <a:rPr lang="en-US" sz="2000" dirty="0">
                  <a:solidFill>
                    <a:schemeClr val="tx1"/>
                  </a:solidFill>
                </a:rPr>
                <a:t>You prompt</a:t>
              </a:r>
              <a:endParaRPr lang="en-US" sz="2000" dirty="0"/>
            </a:p>
          </p:txBody>
        </p:sp>
        <p:sp>
          <p:nvSpPr>
            <p:cNvPr id="16" name="fig|loop-arrow"/>
            <p:cNvSpPr/>
            <p:nvPr/>
          </p:nvSpPr>
          <p:spPr>
            <a:xfrm>
              <a:off x="3136392" y="3566160"/>
              <a:ext cx="402336" cy="0"/>
            </a:xfrm>
            <a:prstGeom prst="line">
              <a:avLst/>
            </a:prstGeom>
            <a:noFill/>
            <a:ln w="38100">
              <a:solidFill>
                <a:schemeClr val="accent1"/>
              </a:solidFill>
              <a:prstDash val="solid"/>
              <a:tailEnd type="triangle"/>
            </a:ln>
          </p:spPr>
          <p:txBody>
            <a:bodyPr/>
            <a:lstStyle/>
            <a:p>
              <a:endParaRPr lang="en-US"/>
            </a:p>
          </p:txBody>
        </p:sp>
        <p:sp>
          <p:nvSpPr>
            <p:cNvPr id="17" name="fig|loop-step"/>
            <p:cNvSpPr/>
            <p:nvPr/>
          </p:nvSpPr>
          <p:spPr>
            <a:xfrm>
              <a:off x="3611880" y="3063240"/>
              <a:ext cx="2286000" cy="1005840"/>
            </a:xfrm>
            <a:prstGeom prst="roundRect">
              <a:avLst>
                <a:gd name="adj" fmla="val 10909"/>
              </a:avLst>
            </a:prstGeom>
            <a:solidFill>
              <a:schemeClr val="tx1"/>
            </a:solidFill>
            <a:ln/>
          </p:spPr>
          <p:txBody>
            <a:bodyPr/>
            <a:lstStyle/>
            <a:p>
              <a:endParaRPr lang="en-US"/>
            </a:p>
          </p:txBody>
        </p:sp>
        <p:sp>
          <p:nvSpPr>
            <p:cNvPr id="18" name="fig|loop-label"/>
            <p:cNvSpPr txBox="1"/>
            <p:nvPr/>
          </p:nvSpPr>
          <p:spPr>
            <a:xfrm>
              <a:off x="3794760" y="3063240"/>
              <a:ext cx="1920240" cy="1005840"/>
            </a:xfrm>
            <a:prstGeom prst="rect">
              <a:avLst/>
            </a:prstGeom>
            <a:noFill/>
            <a:ln/>
          </p:spPr>
          <p:txBody>
            <a:bodyPr wrap="square" lIns="0" tIns="0" rIns="0" bIns="0" rtlCol="0" anchor="ctr"/>
            <a:lstStyle/>
            <a:p>
              <a:pPr marL="0" indent="0" algn="ctr">
                <a:buNone/>
              </a:pPr>
              <a:r>
                <a:rPr lang="en-US" sz="2000" dirty="0">
                  <a:solidFill>
                    <a:schemeClr val="bg1"/>
                  </a:solidFill>
                </a:rPr>
                <a:t>The agent builds</a:t>
              </a:r>
              <a:endParaRPr lang="en-US" sz="2000" dirty="0"/>
            </a:p>
          </p:txBody>
        </p:sp>
        <p:sp>
          <p:nvSpPr>
            <p:cNvPr id="19" name="fig|loop-arrow"/>
            <p:cNvSpPr/>
            <p:nvPr/>
          </p:nvSpPr>
          <p:spPr>
            <a:xfrm>
              <a:off x="5971032" y="3566160"/>
              <a:ext cx="402336" cy="0"/>
            </a:xfrm>
            <a:prstGeom prst="line">
              <a:avLst/>
            </a:prstGeom>
            <a:noFill/>
            <a:ln w="38100">
              <a:solidFill>
                <a:schemeClr val="accent1"/>
              </a:solidFill>
              <a:prstDash val="solid"/>
              <a:tailEnd type="triangle"/>
            </a:ln>
          </p:spPr>
          <p:txBody>
            <a:bodyPr/>
            <a:lstStyle/>
            <a:p>
              <a:endParaRPr lang="en-US"/>
            </a:p>
          </p:txBody>
        </p:sp>
        <p:sp>
          <p:nvSpPr>
            <p:cNvPr id="20" name="fig|loop-step"/>
            <p:cNvSpPr/>
            <p:nvPr/>
          </p:nvSpPr>
          <p:spPr>
            <a:xfrm>
              <a:off x="6446520" y="3063240"/>
              <a:ext cx="2286000" cy="1005840"/>
            </a:xfrm>
            <a:prstGeom prst="roundRect">
              <a:avLst>
                <a:gd name="adj" fmla="val 10909"/>
              </a:avLst>
            </a:prstGeom>
            <a:solidFill>
              <a:schemeClr val="bg2"/>
            </a:solidFill>
            <a:ln/>
          </p:spPr>
          <p:txBody>
            <a:bodyPr/>
            <a:lstStyle/>
            <a:p>
              <a:endParaRPr lang="en-US"/>
            </a:p>
          </p:txBody>
        </p:sp>
        <p:sp>
          <p:nvSpPr>
            <p:cNvPr id="21" name="fig|loop-label"/>
            <p:cNvSpPr txBox="1"/>
            <p:nvPr/>
          </p:nvSpPr>
          <p:spPr>
            <a:xfrm>
              <a:off x="6629400" y="3063240"/>
              <a:ext cx="1920240" cy="1005840"/>
            </a:xfrm>
            <a:prstGeom prst="rect">
              <a:avLst/>
            </a:prstGeom>
            <a:noFill/>
            <a:ln/>
          </p:spPr>
          <p:txBody>
            <a:bodyPr wrap="square" lIns="0" tIns="0" rIns="0" bIns="0" rtlCol="0" anchor="ctr"/>
            <a:lstStyle/>
            <a:p>
              <a:pPr marL="0" indent="0" algn="ctr">
                <a:buNone/>
              </a:pPr>
              <a:r>
                <a:rPr lang="en-US" sz="2000" dirty="0">
                  <a:solidFill>
                    <a:schemeClr val="tx1"/>
                  </a:solidFill>
                </a:rPr>
                <a:t>You review</a:t>
              </a:r>
              <a:endParaRPr lang="en-US" sz="2000" dirty="0"/>
            </a:p>
          </p:txBody>
        </p:sp>
        <p:sp>
          <p:nvSpPr>
            <p:cNvPr id="22" name="fig|loop-arrow"/>
            <p:cNvSpPr/>
            <p:nvPr/>
          </p:nvSpPr>
          <p:spPr>
            <a:xfrm>
              <a:off x="8805672" y="3566160"/>
              <a:ext cx="402336" cy="0"/>
            </a:xfrm>
            <a:prstGeom prst="line">
              <a:avLst/>
            </a:prstGeom>
            <a:noFill/>
            <a:ln w="38100">
              <a:solidFill>
                <a:schemeClr val="accent1"/>
              </a:solidFill>
              <a:prstDash val="solid"/>
              <a:tailEnd type="triangle"/>
            </a:ln>
          </p:spPr>
          <p:txBody>
            <a:bodyPr/>
            <a:lstStyle/>
            <a:p>
              <a:endParaRPr lang="en-US"/>
            </a:p>
          </p:txBody>
        </p:sp>
        <p:sp>
          <p:nvSpPr>
            <p:cNvPr id="23" name="fig|loop-step"/>
            <p:cNvSpPr/>
            <p:nvPr/>
          </p:nvSpPr>
          <p:spPr>
            <a:xfrm>
              <a:off x="9281160" y="3063240"/>
              <a:ext cx="2286000" cy="1005840"/>
            </a:xfrm>
            <a:prstGeom prst="roundRect">
              <a:avLst>
                <a:gd name="adj" fmla="val 10909"/>
              </a:avLst>
            </a:prstGeom>
            <a:solidFill>
              <a:schemeClr val="bg2"/>
            </a:solidFill>
            <a:ln/>
          </p:spPr>
          <p:txBody>
            <a:bodyPr/>
            <a:lstStyle/>
            <a:p>
              <a:endParaRPr lang="en-US"/>
            </a:p>
          </p:txBody>
        </p:sp>
        <p:sp>
          <p:nvSpPr>
            <p:cNvPr id="24" name="fig|loop-label"/>
            <p:cNvSpPr txBox="1"/>
            <p:nvPr/>
          </p:nvSpPr>
          <p:spPr>
            <a:xfrm>
              <a:off x="9464040" y="3063240"/>
              <a:ext cx="1920240" cy="1005840"/>
            </a:xfrm>
            <a:prstGeom prst="rect">
              <a:avLst/>
            </a:prstGeom>
            <a:noFill/>
            <a:ln/>
          </p:spPr>
          <p:txBody>
            <a:bodyPr wrap="square" lIns="0" tIns="0" rIns="0" bIns="0" rtlCol="0" anchor="ctr"/>
            <a:lstStyle/>
            <a:p>
              <a:pPr marL="0" indent="0" algn="ctr">
                <a:buNone/>
              </a:pPr>
              <a:r>
                <a:rPr lang="en-US" sz="2000" dirty="0">
                  <a:solidFill>
                    <a:schemeClr val="tx1"/>
                  </a:solidFill>
                </a:rPr>
                <a:t>You correct</a:t>
              </a:r>
              <a:endParaRPr lang="en-US" sz="2000" dirty="0"/>
            </a:p>
          </p:txBody>
        </p:sp>
        <p:sp>
          <p:nvSpPr>
            <p:cNvPr id="25" name="fig|loop-return"/>
            <p:cNvSpPr/>
            <p:nvPr/>
          </p:nvSpPr>
          <p:spPr>
            <a:xfrm>
              <a:off x="10424160" y="4123944"/>
              <a:ext cx="0" cy="448056"/>
            </a:xfrm>
            <a:prstGeom prst="line">
              <a:avLst/>
            </a:prstGeom>
            <a:noFill/>
            <a:ln w="38100">
              <a:solidFill>
                <a:schemeClr val="accent1"/>
              </a:solidFill>
              <a:prstDash val="solid"/>
            </a:ln>
          </p:spPr>
          <p:txBody>
            <a:bodyPr/>
            <a:lstStyle/>
            <a:p>
              <a:endParaRPr lang="en-US"/>
            </a:p>
          </p:txBody>
        </p:sp>
        <p:sp>
          <p:nvSpPr>
            <p:cNvPr id="26" name="fig|loop-return"/>
            <p:cNvSpPr/>
            <p:nvPr/>
          </p:nvSpPr>
          <p:spPr>
            <a:xfrm flipH="1">
              <a:off x="1920240" y="4572000"/>
              <a:ext cx="8503920" cy="0"/>
            </a:xfrm>
            <a:prstGeom prst="line">
              <a:avLst/>
            </a:prstGeom>
            <a:noFill/>
            <a:ln w="38100">
              <a:solidFill>
                <a:schemeClr val="accent1"/>
              </a:solidFill>
              <a:prstDash val="solid"/>
            </a:ln>
          </p:spPr>
          <p:txBody>
            <a:bodyPr/>
            <a:lstStyle/>
            <a:p>
              <a:endParaRPr lang="en-US"/>
            </a:p>
          </p:txBody>
        </p:sp>
        <p:sp>
          <p:nvSpPr>
            <p:cNvPr id="27" name="fig|loop-return"/>
            <p:cNvSpPr/>
            <p:nvPr/>
          </p:nvSpPr>
          <p:spPr>
            <a:xfrm flipV="1">
              <a:off x="1920240" y="4123944"/>
              <a:ext cx="0" cy="448056"/>
            </a:xfrm>
            <a:prstGeom prst="line">
              <a:avLst/>
            </a:prstGeom>
            <a:noFill/>
            <a:ln w="38100">
              <a:solidFill>
                <a:schemeClr val="accent1"/>
              </a:solidFill>
              <a:prstDash val="solid"/>
              <a:tailEnd type="triangle"/>
            </a:ln>
          </p:spPr>
          <p:txBody>
            <a:bodyPr/>
            <a:lstStyle/>
            <a:p>
              <a:endParaRPr lang="en-US"/>
            </a:p>
          </p:txBody>
        </p:sp>
        <p:sp>
          <p:nvSpPr>
            <p:cNvPr id="28" name="fig|loop-again"/>
            <p:cNvSpPr txBox="1"/>
            <p:nvPr/>
          </p:nvSpPr>
          <p:spPr>
            <a:xfrm>
              <a:off x="5257800" y="4663440"/>
              <a:ext cx="1828800" cy="365760"/>
            </a:xfrm>
            <a:prstGeom prst="rect">
              <a:avLst/>
            </a:prstGeom>
            <a:noFill/>
            <a:ln/>
          </p:spPr>
          <p:txBody>
            <a:bodyPr wrap="square" lIns="0" tIns="0" rIns="0" bIns="0" rtlCol="0" anchor="t"/>
            <a:lstStyle/>
            <a:p>
              <a:pPr marL="0" indent="0" algn="ctr">
                <a:buNone/>
              </a:pPr>
              <a:r>
                <a:rPr lang="en-US" sz="1800" i="1" dirty="0">
                  <a:solidFill>
                    <a:schemeClr val="accent6"/>
                  </a:solidFill>
                </a:rPr>
                <a:t>and again</a:t>
              </a:r>
              <a:endParaRPr lang="en-US" sz="1800" dirty="0"/>
            </a:p>
          </p:txBody>
        </p:sp>
      </p:grpSp>
      <p:sp>
        <p:nvSpPr>
          <p:cNvPr id="29" name="Text 27"/>
          <p:cNvSpPr txBox="1"/>
          <p:nvPr/>
        </p:nvSpPr>
        <p:spPr>
          <a:xfrm>
            <a:off x="777240" y="5440680"/>
            <a:ext cx="10789920" cy="731520"/>
          </a:xfrm>
          <a:prstGeom prst="rect">
            <a:avLst/>
          </a:prstGeom>
          <a:noFill/>
          <a:ln/>
        </p:spPr>
        <p:txBody>
          <a:bodyPr wrap="square" lIns="0" tIns="0" rIns="0" bIns="0" rtlCol="0" anchor="t"/>
          <a:lstStyle/>
          <a:p>
            <a:pPr marL="0" indent="0">
              <a:buNone/>
            </a:pPr>
            <a:r>
              <a:rPr lang="en-US" sz="2200" dirty="0">
                <a:solidFill>
                  <a:schemeClr val="accent1"/>
                </a:solidFill>
              </a:rPr>
              <a:t>This talk is about moving that work to the start, so the first result needs fewer corrections.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grpSp>
        <p:nvGrpSpPr>
          <p:cNvPr id="35" name="Progress marker" descr="Progress marker: slide 3 of 9"/>
          <p:cNvGrpSpPr/>
          <p:nvPr/>
        </p:nvGrpSpPr>
        <p:grpSpPr>
          <a:xfrm>
            <a:off x="0" y="0"/>
            <a:ext cx="292608" cy="6858000"/>
            <a:chOff x="0" y="0"/>
            <a:chExt cx="292608" cy="6858000"/>
          </a:xfrm>
        </p:grpSpPr>
        <p:sp>
          <p:nvSpPr>
            <p:cNvPr id="2" name="prog|strip"/>
            <p:cNvSpPr/>
            <p:nvPr/>
          </p:nvSpPr>
          <p:spPr>
            <a:xfrm>
              <a:off x="0" y="0"/>
              <a:ext cx="292608" cy="6858000"/>
            </a:xfrm>
            <a:prstGeom prst="rect">
              <a:avLst/>
            </a:prstGeom>
            <a:solidFill>
              <a:schemeClr val="accent1"/>
            </a:solidFill>
            <a:ln/>
          </p:spPr>
          <p:txBody>
            <a:bodyPr/>
            <a:lstStyle/>
            <a:p>
              <a:endParaRPr lang="en-US"/>
            </a:p>
          </p:txBody>
        </p:sp>
        <p:sp>
          <p:nvSpPr>
            <p:cNvPr id="3" name="prog|dot1"/>
            <p:cNvSpPr/>
            <p:nvPr/>
          </p:nvSpPr>
          <p:spPr>
            <a:xfrm>
              <a:off x="109728" y="969264"/>
              <a:ext cx="73152" cy="73152"/>
            </a:xfrm>
            <a:prstGeom prst="ellipse">
              <a:avLst/>
            </a:prstGeom>
            <a:solidFill>
              <a:schemeClr val="accent2">
                <a:alpha val="65000"/>
              </a:schemeClr>
            </a:solidFill>
            <a:ln/>
          </p:spPr>
          <p:txBody>
            <a:bodyPr/>
            <a:lstStyle/>
            <a:p>
              <a:endParaRPr lang="en-US"/>
            </a:p>
          </p:txBody>
        </p:sp>
        <p:sp>
          <p:nvSpPr>
            <p:cNvPr id="4" name="prog|dot2"/>
            <p:cNvSpPr/>
            <p:nvPr/>
          </p:nvSpPr>
          <p:spPr>
            <a:xfrm>
              <a:off x="109728" y="1575054"/>
              <a:ext cx="73152" cy="73152"/>
            </a:xfrm>
            <a:prstGeom prst="ellipse">
              <a:avLst/>
            </a:prstGeom>
            <a:solidFill>
              <a:schemeClr val="accent2">
                <a:alpha val="65000"/>
              </a:schemeClr>
            </a:solidFill>
            <a:ln/>
          </p:spPr>
          <p:txBody>
            <a:bodyPr/>
            <a:lstStyle/>
            <a:p>
              <a:endParaRPr lang="en-US"/>
            </a:p>
          </p:txBody>
        </p:sp>
        <p:sp>
          <p:nvSpPr>
            <p:cNvPr id="5" name="prog|dot3"/>
            <p:cNvSpPr/>
            <p:nvPr/>
          </p:nvSpPr>
          <p:spPr>
            <a:xfrm>
              <a:off x="64008" y="2135124"/>
              <a:ext cx="164592" cy="164592"/>
            </a:xfrm>
            <a:prstGeom prst="ellipse">
              <a:avLst/>
            </a:prstGeom>
            <a:solidFill>
              <a:schemeClr val="bg1"/>
            </a:solidFill>
            <a:ln/>
          </p:spPr>
          <p:txBody>
            <a:bodyPr/>
            <a:lstStyle/>
            <a:p>
              <a:endParaRPr lang="en-US"/>
            </a:p>
          </p:txBody>
        </p:sp>
        <p:sp>
          <p:nvSpPr>
            <p:cNvPr id="6" name="prog|dot4"/>
            <p:cNvSpPr/>
            <p:nvPr/>
          </p:nvSpPr>
          <p:spPr>
            <a:xfrm>
              <a:off x="109728" y="2786634"/>
              <a:ext cx="73152" cy="73152"/>
            </a:xfrm>
            <a:prstGeom prst="ellipse">
              <a:avLst/>
            </a:prstGeom>
            <a:solidFill>
              <a:schemeClr val="accent2">
                <a:alpha val="65000"/>
              </a:schemeClr>
            </a:solidFill>
            <a:ln/>
          </p:spPr>
          <p:txBody>
            <a:bodyPr/>
            <a:lstStyle/>
            <a:p>
              <a:endParaRPr lang="en-US"/>
            </a:p>
          </p:txBody>
        </p:sp>
        <p:sp>
          <p:nvSpPr>
            <p:cNvPr id="7" name="prog|dot5"/>
            <p:cNvSpPr/>
            <p:nvPr/>
          </p:nvSpPr>
          <p:spPr>
            <a:xfrm>
              <a:off x="109728" y="3392424"/>
              <a:ext cx="73152" cy="73152"/>
            </a:xfrm>
            <a:prstGeom prst="ellipse">
              <a:avLst/>
            </a:prstGeom>
            <a:solidFill>
              <a:schemeClr val="accent2">
                <a:alpha val="65000"/>
              </a:schemeClr>
            </a:solidFill>
            <a:ln/>
          </p:spPr>
          <p:txBody>
            <a:bodyPr/>
            <a:lstStyle/>
            <a:p>
              <a:endParaRPr lang="en-US"/>
            </a:p>
          </p:txBody>
        </p:sp>
        <p:sp>
          <p:nvSpPr>
            <p:cNvPr id="8" name="prog|dot6"/>
            <p:cNvSpPr/>
            <p:nvPr/>
          </p:nvSpPr>
          <p:spPr>
            <a:xfrm>
              <a:off x="109728" y="3998214"/>
              <a:ext cx="73152" cy="73152"/>
            </a:xfrm>
            <a:prstGeom prst="ellipse">
              <a:avLst/>
            </a:prstGeom>
            <a:solidFill>
              <a:schemeClr val="accent2">
                <a:alpha val="65000"/>
              </a:schemeClr>
            </a:solidFill>
            <a:ln/>
          </p:spPr>
          <p:txBody>
            <a:bodyPr/>
            <a:lstStyle/>
            <a:p>
              <a:endParaRPr lang="en-US"/>
            </a:p>
          </p:txBody>
        </p:sp>
        <p:sp>
          <p:nvSpPr>
            <p:cNvPr id="9" name="prog|dot7"/>
            <p:cNvSpPr/>
            <p:nvPr/>
          </p:nvSpPr>
          <p:spPr>
            <a:xfrm>
              <a:off x="109728" y="4604004"/>
              <a:ext cx="73152" cy="73152"/>
            </a:xfrm>
            <a:prstGeom prst="ellipse">
              <a:avLst/>
            </a:prstGeom>
            <a:solidFill>
              <a:schemeClr val="accent2">
                <a:alpha val="65000"/>
              </a:schemeClr>
            </a:solidFill>
            <a:ln/>
          </p:spPr>
          <p:txBody>
            <a:bodyPr/>
            <a:lstStyle/>
            <a:p>
              <a:endParaRPr lang="en-US"/>
            </a:p>
          </p:txBody>
        </p:sp>
        <p:sp>
          <p:nvSpPr>
            <p:cNvPr id="10" name="prog|dot8"/>
            <p:cNvSpPr/>
            <p:nvPr/>
          </p:nvSpPr>
          <p:spPr>
            <a:xfrm>
              <a:off x="109728" y="5209794"/>
              <a:ext cx="73152" cy="73152"/>
            </a:xfrm>
            <a:prstGeom prst="ellipse">
              <a:avLst/>
            </a:prstGeom>
            <a:solidFill>
              <a:schemeClr val="accent2">
                <a:alpha val="65000"/>
              </a:schemeClr>
            </a:solidFill>
            <a:ln/>
          </p:spPr>
          <p:txBody>
            <a:bodyPr/>
            <a:lstStyle/>
            <a:p>
              <a:endParaRPr lang="en-US"/>
            </a:p>
          </p:txBody>
        </p:sp>
        <p:sp>
          <p:nvSpPr>
            <p:cNvPr id="11" name="prog|dot9"/>
            <p:cNvSpPr/>
            <p:nvPr/>
          </p:nvSpPr>
          <p:spPr>
            <a:xfrm>
              <a:off x="109728" y="5815584"/>
              <a:ext cx="73152" cy="73152"/>
            </a:xfrm>
            <a:prstGeom prst="ellipse">
              <a:avLst/>
            </a:prstGeom>
            <a:solidFill>
              <a:schemeClr val="accent2">
                <a:alpha val="65000"/>
              </a:schemeClr>
            </a:solidFill>
            <a:ln/>
          </p:spPr>
          <p:txBody>
            <a:bodyPr/>
            <a:lstStyle/>
            <a:p>
              <a:endParaRPr lang="en-US"/>
            </a:p>
          </p:txBody>
        </p:sp>
      </p:grpSp>
      <p:sp>
        <p:nvSpPr>
          <p:cNvPr id="12" name="Text 0"/>
          <p:cNvSpPr>
            <a:spLocks noGrp="1"/>
          </p:cNvSpPr>
          <p:nvPr>
            <p:ph type="title" idx="100" hasCustomPrompt="1"/>
          </p:nvPr>
        </p:nvSpPr>
        <p:spPr>
          <a:xfrm>
            <a:off x="777240" y="320040"/>
            <a:ext cx="10789920" cy="1051560"/>
          </a:xfrm>
          <a:prstGeom prst="rect">
            <a:avLst/>
          </a:prstGeom>
          <a:noFill/>
          <a:ln/>
        </p:spPr>
        <p:txBody>
          <a:bodyPr wrap="square" lIns="0" tIns="0" rIns="0" bIns="0" rtlCol="0" anchor="ctr"/>
          <a:lstStyle/>
          <a:p>
            <a:pPr marL="0" indent="0" algn="l">
              <a:buNone/>
            </a:pPr>
            <a:r>
              <a:rPr lang="en-US" sz="3200" dirty="0">
                <a:solidFill>
                  <a:schemeClr val="tx1"/>
                </a:solidFill>
              </a:rPr>
              <a:t>A short request leaves the decisions to the agent</a:t>
            </a:r>
            <a:endParaRPr lang="en-US" sz="3200" dirty="0"/>
          </a:p>
        </p:txBody>
      </p:sp>
      <p:sp>
        <p:nvSpPr>
          <p:cNvPr id="13" name="Text 11"/>
          <p:cNvSpPr txBox="1"/>
          <p:nvPr/>
        </p:nvSpPr>
        <p:spPr>
          <a:xfrm>
            <a:off x="777240" y="1554480"/>
            <a:ext cx="10789920" cy="1051560"/>
          </a:xfrm>
          <a:prstGeom prst="rect">
            <a:avLst/>
          </a:prstGeom>
          <a:noFill/>
          <a:ln/>
        </p:spPr>
        <p:txBody>
          <a:bodyPr wrap="square" lIns="0" tIns="0" rIns="0" bIns="0" rtlCol="0" anchor="t"/>
          <a:lstStyle/>
          <a:p>
            <a:pPr marL="0" indent="0">
              <a:buNone/>
            </a:pPr>
            <a:r>
              <a:rPr lang="en-US" sz="2200" dirty="0">
                <a:solidFill>
                  <a:schemeClr val="tx1"/>
                </a:solidFill>
              </a:rPr>
              <a:t>"Add authentication." is one line, but building it means choosing how sessions work, which routes to protect, and when the work counts as finished. Anything you leave out, the agent decides for you.</a:t>
            </a:r>
            <a:endParaRPr lang="en-US" sz="2200" dirty="0"/>
          </a:p>
        </p:txBody>
      </p:sp>
      <p:grpSp>
        <p:nvGrpSpPr>
          <p:cNvPr id="36" name="Figure" descr="A one-line request passes through an agent, which has to answer five decisions about scope, protection, and completion."/>
          <p:cNvGrpSpPr/>
          <p:nvPr/>
        </p:nvGrpSpPr>
        <p:grpSpPr>
          <a:xfrm>
            <a:off x="777240" y="2798064"/>
            <a:ext cx="10789920" cy="3319272"/>
            <a:chOff x="777240" y="2798064"/>
            <a:chExt cx="10789920" cy="3319272"/>
          </a:xfrm>
        </p:grpSpPr>
        <p:sp>
          <p:nvSpPr>
            <p:cNvPr id="14" name="fig|goal-card"/>
            <p:cNvSpPr/>
            <p:nvPr/>
          </p:nvSpPr>
          <p:spPr>
            <a:xfrm>
              <a:off x="777240" y="3566160"/>
              <a:ext cx="3840480" cy="1280160"/>
            </a:xfrm>
            <a:prstGeom prst="roundRect">
              <a:avLst>
                <a:gd name="adj" fmla="val 8571"/>
              </a:avLst>
            </a:prstGeom>
            <a:solidFill>
              <a:schemeClr val="tx1"/>
            </a:solidFill>
            <a:ln/>
          </p:spPr>
          <p:txBody>
            <a:bodyPr/>
            <a:lstStyle/>
            <a:p>
              <a:endParaRPr lang="en-US"/>
            </a:p>
          </p:txBody>
        </p:sp>
        <p:sp>
          <p:nvSpPr>
            <p:cNvPr id="15" name="fig|goal"/>
            <p:cNvSpPr txBox="1"/>
            <p:nvPr/>
          </p:nvSpPr>
          <p:spPr>
            <a:xfrm>
              <a:off x="1051560" y="3749040"/>
              <a:ext cx="3429000" cy="457200"/>
            </a:xfrm>
            <a:prstGeom prst="rect">
              <a:avLst/>
            </a:prstGeom>
            <a:noFill/>
            <a:ln/>
          </p:spPr>
          <p:txBody>
            <a:bodyPr wrap="square" lIns="0" tIns="0" rIns="0" bIns="0" rtlCol="0" anchor="t"/>
            <a:lstStyle/>
            <a:p>
              <a:pPr marL="0" indent="0">
                <a:buNone/>
              </a:pPr>
              <a:r>
                <a:rPr lang="en-US" sz="2200" dirty="0">
                  <a:solidFill>
                    <a:schemeClr val="bg1"/>
                  </a:solidFill>
                  <a:latin typeface="Consolas" pitchFamily="34" charset="0"/>
                  <a:ea typeface="Consolas" pitchFamily="34" charset="-122"/>
                  <a:cs typeface="Consolas" pitchFamily="34" charset="-120"/>
                </a:rPr>
                <a:t>"Add authentication."</a:t>
              </a:r>
              <a:endParaRPr lang="en-US" sz="2200" dirty="0"/>
            </a:p>
          </p:txBody>
        </p:sp>
        <p:sp>
          <p:nvSpPr>
            <p:cNvPr id="16" name="fig|goal-label"/>
            <p:cNvSpPr txBox="1"/>
            <p:nvPr/>
          </p:nvSpPr>
          <p:spPr>
            <a:xfrm>
              <a:off x="1051560" y="4315968"/>
              <a:ext cx="3291840" cy="365760"/>
            </a:xfrm>
            <a:prstGeom prst="rect">
              <a:avLst/>
            </a:prstGeom>
            <a:noFill/>
            <a:ln/>
          </p:spPr>
          <p:txBody>
            <a:bodyPr wrap="square" lIns="0" tIns="0" rIns="0" bIns="0" rtlCol="0" anchor="t"/>
            <a:lstStyle/>
            <a:p>
              <a:pPr marL="0" indent="0">
                <a:buNone/>
              </a:pPr>
              <a:r>
                <a:rPr lang="en-US" sz="2000" dirty="0">
                  <a:solidFill>
                    <a:schemeClr val="accent2"/>
                  </a:solidFill>
                </a:rPr>
                <a:t>what you said</a:t>
              </a:r>
              <a:endParaRPr lang="en-US" sz="2000" dirty="0"/>
            </a:p>
          </p:txBody>
        </p:sp>
        <p:sp>
          <p:nvSpPr>
            <p:cNvPr id="17" name="fig|to-agent"/>
            <p:cNvSpPr/>
            <p:nvPr/>
          </p:nvSpPr>
          <p:spPr>
            <a:xfrm>
              <a:off x="4617720" y="4206240"/>
              <a:ext cx="365760" cy="0"/>
            </a:xfrm>
            <a:prstGeom prst="line">
              <a:avLst/>
            </a:prstGeom>
            <a:noFill/>
            <a:ln w="50800">
              <a:solidFill>
                <a:schemeClr val="accent1"/>
              </a:solidFill>
              <a:prstDash val="solid"/>
            </a:ln>
          </p:spPr>
          <p:txBody>
            <a:bodyPr/>
            <a:lstStyle/>
            <a:p>
              <a:endParaRPr lang="en-US"/>
            </a:p>
          </p:txBody>
        </p:sp>
        <p:sp>
          <p:nvSpPr>
            <p:cNvPr id="18" name="fig|agent"/>
            <p:cNvSpPr/>
            <p:nvPr/>
          </p:nvSpPr>
          <p:spPr>
            <a:xfrm>
              <a:off x="4983480" y="3520440"/>
              <a:ext cx="1371600" cy="1371600"/>
            </a:xfrm>
            <a:prstGeom prst="ellipse">
              <a:avLst/>
            </a:prstGeom>
            <a:solidFill>
              <a:schemeClr val="accent1"/>
            </a:solidFill>
            <a:ln/>
          </p:spPr>
          <p:txBody>
            <a:bodyPr wrap="square" lIns="0" tIns="0" rIns="0" bIns="0" rtlCol="0" anchor="ctr"/>
            <a:lstStyle/>
            <a:p>
              <a:pPr marL="0" indent="0" algn="ctr">
                <a:buNone/>
              </a:pPr>
              <a:r>
                <a:rPr lang="en-US" sz="2400" dirty="0">
                  <a:solidFill>
                    <a:schemeClr val="bg1"/>
                  </a:solidFill>
                  <a:latin typeface="+mj-lt" pitchFamily="34" charset="0"/>
                  <a:ea typeface="+mj-lt" pitchFamily="34" charset="-122"/>
                  <a:cs typeface="+mj-lt" pitchFamily="34" charset="-120"/>
                </a:rPr>
                <a:t>Agent</a:t>
              </a:r>
              <a:endParaRPr lang="en-US" sz="2400" dirty="0"/>
            </a:p>
          </p:txBody>
        </p:sp>
        <p:sp>
          <p:nvSpPr>
            <p:cNvPr id="19" name="fig|fan"/>
            <p:cNvSpPr/>
            <p:nvPr/>
          </p:nvSpPr>
          <p:spPr>
            <a:xfrm flipV="1">
              <a:off x="6355080" y="3035808"/>
              <a:ext cx="914400" cy="1170432"/>
            </a:xfrm>
            <a:prstGeom prst="line">
              <a:avLst/>
            </a:prstGeom>
            <a:noFill/>
            <a:ln w="31750">
              <a:solidFill>
                <a:schemeClr val="accent2"/>
              </a:solidFill>
              <a:prstDash val="solid"/>
            </a:ln>
          </p:spPr>
          <p:txBody>
            <a:bodyPr/>
            <a:lstStyle/>
            <a:p>
              <a:endParaRPr lang="en-US"/>
            </a:p>
          </p:txBody>
        </p:sp>
        <p:sp>
          <p:nvSpPr>
            <p:cNvPr id="20" name="fig|decision"/>
            <p:cNvSpPr/>
            <p:nvPr/>
          </p:nvSpPr>
          <p:spPr>
            <a:xfrm>
              <a:off x="7269480" y="2798064"/>
              <a:ext cx="4297680" cy="475488"/>
            </a:xfrm>
            <a:prstGeom prst="roundRect">
              <a:avLst>
                <a:gd name="adj" fmla="val 15385"/>
              </a:avLst>
            </a:prstGeom>
            <a:solidFill>
              <a:schemeClr val="bg2"/>
            </a:solidFill>
            <a:ln/>
          </p:spPr>
          <p:txBody>
            <a:bodyPr/>
            <a:lstStyle/>
            <a:p>
              <a:endParaRPr lang="en-US"/>
            </a:p>
          </p:txBody>
        </p:sp>
        <p:sp>
          <p:nvSpPr>
            <p:cNvPr id="21" name="fig|decision-text"/>
            <p:cNvSpPr txBox="1"/>
            <p:nvPr/>
          </p:nvSpPr>
          <p:spPr>
            <a:xfrm>
              <a:off x="7498080" y="2798064"/>
              <a:ext cx="3931920" cy="475488"/>
            </a:xfrm>
            <a:prstGeom prst="rect">
              <a:avLst/>
            </a:prstGeom>
            <a:noFill/>
            <a:ln/>
          </p:spPr>
          <p:txBody>
            <a:bodyPr wrap="square" lIns="0" tIns="0" rIns="0" bIns="0" rtlCol="0" anchor="ctr"/>
            <a:lstStyle/>
            <a:p>
              <a:pPr marL="0" indent="0">
                <a:buNone/>
              </a:pPr>
              <a:r>
                <a:rPr lang="en-US" sz="2000" dirty="0">
                  <a:solidFill>
                    <a:schemeClr val="tx1"/>
                  </a:solidFill>
                </a:rPr>
                <a:t>Sessions or tokens?</a:t>
              </a:r>
              <a:endParaRPr lang="en-US" sz="2000" dirty="0"/>
            </a:p>
          </p:txBody>
        </p:sp>
        <p:sp>
          <p:nvSpPr>
            <p:cNvPr id="22" name="fig|fan"/>
            <p:cNvSpPr/>
            <p:nvPr/>
          </p:nvSpPr>
          <p:spPr>
            <a:xfrm flipV="1">
              <a:off x="6355080" y="3621024"/>
              <a:ext cx="914400" cy="585216"/>
            </a:xfrm>
            <a:prstGeom prst="line">
              <a:avLst/>
            </a:prstGeom>
            <a:noFill/>
            <a:ln w="31750">
              <a:solidFill>
                <a:schemeClr val="accent2"/>
              </a:solidFill>
              <a:prstDash val="solid"/>
            </a:ln>
          </p:spPr>
          <p:txBody>
            <a:bodyPr/>
            <a:lstStyle/>
            <a:p>
              <a:endParaRPr lang="en-US"/>
            </a:p>
          </p:txBody>
        </p:sp>
        <p:sp>
          <p:nvSpPr>
            <p:cNvPr id="23" name="fig|decision"/>
            <p:cNvSpPr/>
            <p:nvPr/>
          </p:nvSpPr>
          <p:spPr>
            <a:xfrm>
              <a:off x="7269480" y="3383280"/>
              <a:ext cx="4297680" cy="475488"/>
            </a:xfrm>
            <a:prstGeom prst="roundRect">
              <a:avLst>
                <a:gd name="adj" fmla="val 15385"/>
              </a:avLst>
            </a:prstGeom>
            <a:solidFill>
              <a:schemeClr val="bg2"/>
            </a:solidFill>
            <a:ln/>
          </p:spPr>
          <p:txBody>
            <a:bodyPr/>
            <a:lstStyle/>
            <a:p>
              <a:endParaRPr lang="en-US"/>
            </a:p>
          </p:txBody>
        </p:sp>
        <p:sp>
          <p:nvSpPr>
            <p:cNvPr id="24" name="fig|decision-text"/>
            <p:cNvSpPr txBox="1"/>
            <p:nvPr/>
          </p:nvSpPr>
          <p:spPr>
            <a:xfrm>
              <a:off x="7498080" y="3383280"/>
              <a:ext cx="3931920" cy="475488"/>
            </a:xfrm>
            <a:prstGeom prst="rect">
              <a:avLst/>
            </a:prstGeom>
            <a:noFill/>
            <a:ln/>
          </p:spPr>
          <p:txBody>
            <a:bodyPr wrap="square" lIns="0" tIns="0" rIns="0" bIns="0" rtlCol="0" anchor="ctr"/>
            <a:lstStyle/>
            <a:p>
              <a:pPr marL="0" indent="0">
                <a:buNone/>
              </a:pPr>
              <a:r>
                <a:rPr lang="en-US" sz="2000" dirty="0">
                  <a:solidFill>
                    <a:schemeClr val="tx1"/>
                  </a:solidFill>
                </a:rPr>
                <a:t>Which routes are protected?</a:t>
              </a:r>
              <a:endParaRPr lang="en-US" sz="2000" dirty="0"/>
            </a:p>
          </p:txBody>
        </p:sp>
        <p:sp>
          <p:nvSpPr>
            <p:cNvPr id="25" name="fig|fan"/>
            <p:cNvSpPr/>
            <p:nvPr/>
          </p:nvSpPr>
          <p:spPr>
            <a:xfrm>
              <a:off x="6355080" y="4206240"/>
              <a:ext cx="914400" cy="0"/>
            </a:xfrm>
            <a:prstGeom prst="line">
              <a:avLst/>
            </a:prstGeom>
            <a:noFill/>
            <a:ln w="31750">
              <a:solidFill>
                <a:schemeClr val="accent2"/>
              </a:solidFill>
              <a:prstDash val="solid"/>
            </a:ln>
          </p:spPr>
          <p:txBody>
            <a:bodyPr/>
            <a:lstStyle/>
            <a:p>
              <a:endParaRPr lang="en-US"/>
            </a:p>
          </p:txBody>
        </p:sp>
        <p:sp>
          <p:nvSpPr>
            <p:cNvPr id="26" name="fig|decision"/>
            <p:cNvSpPr/>
            <p:nvPr/>
          </p:nvSpPr>
          <p:spPr>
            <a:xfrm>
              <a:off x="7269480" y="3968496"/>
              <a:ext cx="4297680" cy="475488"/>
            </a:xfrm>
            <a:prstGeom prst="roundRect">
              <a:avLst>
                <a:gd name="adj" fmla="val 15385"/>
              </a:avLst>
            </a:prstGeom>
            <a:solidFill>
              <a:schemeClr val="bg2"/>
            </a:solidFill>
            <a:ln/>
          </p:spPr>
          <p:txBody>
            <a:bodyPr/>
            <a:lstStyle/>
            <a:p>
              <a:endParaRPr lang="en-US"/>
            </a:p>
          </p:txBody>
        </p:sp>
        <p:sp>
          <p:nvSpPr>
            <p:cNvPr id="27" name="fig|decision-text"/>
            <p:cNvSpPr txBox="1"/>
            <p:nvPr/>
          </p:nvSpPr>
          <p:spPr>
            <a:xfrm>
              <a:off x="7498080" y="3968496"/>
              <a:ext cx="3931920" cy="475488"/>
            </a:xfrm>
            <a:prstGeom prst="rect">
              <a:avLst/>
            </a:prstGeom>
            <a:noFill/>
            <a:ln/>
          </p:spPr>
          <p:txBody>
            <a:bodyPr wrap="square" lIns="0" tIns="0" rIns="0" bIns="0" rtlCol="0" anchor="ctr"/>
            <a:lstStyle/>
            <a:p>
              <a:pPr marL="0" indent="0">
                <a:buNone/>
              </a:pPr>
              <a:r>
                <a:rPr lang="en-US" sz="2000" dirty="0">
                  <a:solidFill>
                    <a:schemeClr val="tx1"/>
                  </a:solidFill>
                </a:rPr>
                <a:t>Is password reset included?</a:t>
              </a:r>
              <a:endParaRPr lang="en-US" sz="2000" dirty="0"/>
            </a:p>
          </p:txBody>
        </p:sp>
        <p:sp>
          <p:nvSpPr>
            <p:cNvPr id="28" name="fig|fan"/>
            <p:cNvSpPr/>
            <p:nvPr/>
          </p:nvSpPr>
          <p:spPr>
            <a:xfrm>
              <a:off x="6355080" y="4206240"/>
              <a:ext cx="914400" cy="585216"/>
            </a:xfrm>
            <a:prstGeom prst="line">
              <a:avLst/>
            </a:prstGeom>
            <a:noFill/>
            <a:ln w="31750">
              <a:solidFill>
                <a:schemeClr val="accent2"/>
              </a:solidFill>
              <a:prstDash val="solid"/>
            </a:ln>
          </p:spPr>
          <p:txBody>
            <a:bodyPr/>
            <a:lstStyle/>
            <a:p>
              <a:endParaRPr lang="en-US"/>
            </a:p>
          </p:txBody>
        </p:sp>
        <p:sp>
          <p:nvSpPr>
            <p:cNvPr id="29" name="fig|decision"/>
            <p:cNvSpPr/>
            <p:nvPr/>
          </p:nvSpPr>
          <p:spPr>
            <a:xfrm>
              <a:off x="7269480" y="4553712"/>
              <a:ext cx="4297680" cy="475488"/>
            </a:xfrm>
            <a:prstGeom prst="roundRect">
              <a:avLst>
                <a:gd name="adj" fmla="val 15385"/>
              </a:avLst>
            </a:prstGeom>
            <a:solidFill>
              <a:schemeClr val="bg2"/>
            </a:solidFill>
            <a:ln/>
          </p:spPr>
          <p:txBody>
            <a:bodyPr/>
            <a:lstStyle/>
            <a:p>
              <a:endParaRPr lang="en-US"/>
            </a:p>
          </p:txBody>
        </p:sp>
        <p:sp>
          <p:nvSpPr>
            <p:cNvPr id="30" name="fig|decision-text"/>
            <p:cNvSpPr txBox="1"/>
            <p:nvPr/>
          </p:nvSpPr>
          <p:spPr>
            <a:xfrm>
              <a:off x="7498080" y="4553712"/>
              <a:ext cx="3931920" cy="475488"/>
            </a:xfrm>
            <a:prstGeom prst="rect">
              <a:avLst/>
            </a:prstGeom>
            <a:noFill/>
            <a:ln/>
          </p:spPr>
          <p:txBody>
            <a:bodyPr wrap="square" lIns="0" tIns="0" rIns="0" bIns="0" rtlCol="0" anchor="ctr"/>
            <a:lstStyle/>
            <a:p>
              <a:pPr marL="0" indent="0">
                <a:buNone/>
              </a:pPr>
              <a:r>
                <a:rPr lang="en-US" sz="2000" dirty="0">
                  <a:solidFill>
                    <a:schemeClr val="tx1"/>
                  </a:solidFill>
                </a:rPr>
                <a:t>Tests, or just "it compiles"?</a:t>
              </a:r>
              <a:endParaRPr lang="en-US" sz="2000" dirty="0"/>
            </a:p>
          </p:txBody>
        </p:sp>
        <p:sp>
          <p:nvSpPr>
            <p:cNvPr id="31" name="fig|fan"/>
            <p:cNvSpPr/>
            <p:nvPr/>
          </p:nvSpPr>
          <p:spPr>
            <a:xfrm>
              <a:off x="6355080" y="4206240"/>
              <a:ext cx="914400" cy="1170432"/>
            </a:xfrm>
            <a:prstGeom prst="line">
              <a:avLst/>
            </a:prstGeom>
            <a:noFill/>
            <a:ln w="31750">
              <a:solidFill>
                <a:schemeClr val="accent2"/>
              </a:solidFill>
              <a:prstDash val="solid"/>
            </a:ln>
          </p:spPr>
          <p:txBody>
            <a:bodyPr/>
            <a:lstStyle/>
            <a:p>
              <a:endParaRPr lang="en-US"/>
            </a:p>
          </p:txBody>
        </p:sp>
        <p:sp>
          <p:nvSpPr>
            <p:cNvPr id="32" name="fig|decision"/>
            <p:cNvSpPr/>
            <p:nvPr/>
          </p:nvSpPr>
          <p:spPr>
            <a:xfrm>
              <a:off x="7269480" y="5138928"/>
              <a:ext cx="4297680" cy="475488"/>
            </a:xfrm>
            <a:prstGeom prst="roundRect">
              <a:avLst>
                <a:gd name="adj" fmla="val 15385"/>
              </a:avLst>
            </a:prstGeom>
            <a:solidFill>
              <a:schemeClr val="bg2"/>
            </a:solidFill>
            <a:ln/>
          </p:spPr>
          <p:txBody>
            <a:bodyPr/>
            <a:lstStyle/>
            <a:p>
              <a:endParaRPr lang="en-US"/>
            </a:p>
          </p:txBody>
        </p:sp>
        <p:sp>
          <p:nvSpPr>
            <p:cNvPr id="33" name="fig|decision-text"/>
            <p:cNvSpPr txBox="1"/>
            <p:nvPr/>
          </p:nvSpPr>
          <p:spPr>
            <a:xfrm>
              <a:off x="7498080" y="5138928"/>
              <a:ext cx="3931920" cy="475488"/>
            </a:xfrm>
            <a:prstGeom prst="rect">
              <a:avLst/>
            </a:prstGeom>
            <a:noFill/>
            <a:ln/>
          </p:spPr>
          <p:txBody>
            <a:bodyPr wrap="square" lIns="0" tIns="0" rIns="0" bIns="0" rtlCol="0" anchor="ctr"/>
            <a:lstStyle/>
            <a:p>
              <a:pPr marL="0" indent="0">
                <a:buNone/>
              </a:pPr>
              <a:r>
                <a:rPr lang="en-US" sz="2000" dirty="0">
                  <a:solidFill>
                    <a:schemeClr val="tx1"/>
                  </a:solidFill>
                </a:rPr>
                <a:t>Finished, or finished for now?</a:t>
              </a:r>
              <a:endParaRPr lang="en-US" sz="2000" dirty="0"/>
            </a:p>
          </p:txBody>
        </p:sp>
        <p:sp>
          <p:nvSpPr>
            <p:cNvPr id="34" name="fig|decision-label"/>
            <p:cNvSpPr txBox="1"/>
            <p:nvPr/>
          </p:nvSpPr>
          <p:spPr>
            <a:xfrm>
              <a:off x="7269480" y="5751576"/>
              <a:ext cx="4297680" cy="365760"/>
            </a:xfrm>
            <a:prstGeom prst="rect">
              <a:avLst/>
            </a:prstGeom>
            <a:noFill/>
            <a:ln/>
          </p:spPr>
          <p:txBody>
            <a:bodyPr wrap="square" lIns="0" tIns="0" rIns="0" bIns="0" rtlCol="0" anchor="t"/>
            <a:lstStyle/>
            <a:p>
              <a:pPr marL="0" indent="0">
                <a:buNone/>
              </a:pPr>
              <a:r>
                <a:rPr lang="en-US" sz="1800" i="1" dirty="0">
                  <a:solidFill>
                    <a:schemeClr val="accent6"/>
                  </a:solidFill>
                </a:rPr>
                <a:t>what it has to decide for you</a:t>
              </a:r>
              <a:endParaRPr lang="en-US" sz="1800"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grpSp>
        <p:nvGrpSpPr>
          <p:cNvPr id="38" name="Progress marker" descr="Progress marker: slide 4 of 9"/>
          <p:cNvGrpSpPr/>
          <p:nvPr/>
        </p:nvGrpSpPr>
        <p:grpSpPr>
          <a:xfrm>
            <a:off x="0" y="0"/>
            <a:ext cx="292608" cy="6858000"/>
            <a:chOff x="0" y="0"/>
            <a:chExt cx="292608" cy="6858000"/>
          </a:xfrm>
        </p:grpSpPr>
        <p:sp>
          <p:nvSpPr>
            <p:cNvPr id="2" name="prog|strip"/>
            <p:cNvSpPr/>
            <p:nvPr/>
          </p:nvSpPr>
          <p:spPr>
            <a:xfrm>
              <a:off x="0" y="0"/>
              <a:ext cx="292608" cy="6858000"/>
            </a:xfrm>
            <a:prstGeom prst="rect">
              <a:avLst/>
            </a:prstGeom>
            <a:solidFill>
              <a:schemeClr val="accent1"/>
            </a:solidFill>
            <a:ln/>
          </p:spPr>
          <p:txBody>
            <a:bodyPr/>
            <a:lstStyle/>
            <a:p>
              <a:endParaRPr lang="en-US"/>
            </a:p>
          </p:txBody>
        </p:sp>
        <p:sp>
          <p:nvSpPr>
            <p:cNvPr id="3" name="prog|dot1"/>
            <p:cNvSpPr/>
            <p:nvPr/>
          </p:nvSpPr>
          <p:spPr>
            <a:xfrm>
              <a:off x="109728" y="969264"/>
              <a:ext cx="73152" cy="73152"/>
            </a:xfrm>
            <a:prstGeom prst="ellipse">
              <a:avLst/>
            </a:prstGeom>
            <a:solidFill>
              <a:schemeClr val="accent2">
                <a:alpha val="65000"/>
              </a:schemeClr>
            </a:solidFill>
            <a:ln/>
          </p:spPr>
          <p:txBody>
            <a:bodyPr/>
            <a:lstStyle/>
            <a:p>
              <a:endParaRPr lang="en-US"/>
            </a:p>
          </p:txBody>
        </p:sp>
        <p:sp>
          <p:nvSpPr>
            <p:cNvPr id="4" name="prog|dot2"/>
            <p:cNvSpPr/>
            <p:nvPr/>
          </p:nvSpPr>
          <p:spPr>
            <a:xfrm>
              <a:off x="109728" y="1575054"/>
              <a:ext cx="73152" cy="73152"/>
            </a:xfrm>
            <a:prstGeom prst="ellipse">
              <a:avLst/>
            </a:prstGeom>
            <a:solidFill>
              <a:schemeClr val="accent2">
                <a:alpha val="65000"/>
              </a:schemeClr>
            </a:solidFill>
            <a:ln/>
          </p:spPr>
          <p:txBody>
            <a:bodyPr/>
            <a:lstStyle/>
            <a:p>
              <a:endParaRPr lang="en-US"/>
            </a:p>
          </p:txBody>
        </p:sp>
        <p:sp>
          <p:nvSpPr>
            <p:cNvPr id="5" name="prog|dot3"/>
            <p:cNvSpPr/>
            <p:nvPr/>
          </p:nvSpPr>
          <p:spPr>
            <a:xfrm>
              <a:off x="109728" y="2180844"/>
              <a:ext cx="73152" cy="73152"/>
            </a:xfrm>
            <a:prstGeom prst="ellipse">
              <a:avLst/>
            </a:prstGeom>
            <a:solidFill>
              <a:schemeClr val="accent2">
                <a:alpha val="65000"/>
              </a:schemeClr>
            </a:solidFill>
            <a:ln/>
          </p:spPr>
          <p:txBody>
            <a:bodyPr/>
            <a:lstStyle/>
            <a:p>
              <a:endParaRPr lang="en-US"/>
            </a:p>
          </p:txBody>
        </p:sp>
        <p:sp>
          <p:nvSpPr>
            <p:cNvPr id="6" name="prog|dot4"/>
            <p:cNvSpPr/>
            <p:nvPr/>
          </p:nvSpPr>
          <p:spPr>
            <a:xfrm>
              <a:off x="64008" y="2740914"/>
              <a:ext cx="164592" cy="164592"/>
            </a:xfrm>
            <a:prstGeom prst="ellipse">
              <a:avLst/>
            </a:prstGeom>
            <a:solidFill>
              <a:schemeClr val="bg1"/>
            </a:solidFill>
            <a:ln/>
          </p:spPr>
          <p:txBody>
            <a:bodyPr/>
            <a:lstStyle/>
            <a:p>
              <a:endParaRPr lang="en-US"/>
            </a:p>
          </p:txBody>
        </p:sp>
        <p:sp>
          <p:nvSpPr>
            <p:cNvPr id="7" name="prog|dot5"/>
            <p:cNvSpPr/>
            <p:nvPr/>
          </p:nvSpPr>
          <p:spPr>
            <a:xfrm>
              <a:off x="109728" y="3392424"/>
              <a:ext cx="73152" cy="73152"/>
            </a:xfrm>
            <a:prstGeom prst="ellipse">
              <a:avLst/>
            </a:prstGeom>
            <a:solidFill>
              <a:schemeClr val="accent2">
                <a:alpha val="65000"/>
              </a:schemeClr>
            </a:solidFill>
            <a:ln/>
          </p:spPr>
          <p:txBody>
            <a:bodyPr/>
            <a:lstStyle/>
            <a:p>
              <a:endParaRPr lang="en-US"/>
            </a:p>
          </p:txBody>
        </p:sp>
        <p:sp>
          <p:nvSpPr>
            <p:cNvPr id="8" name="prog|dot6"/>
            <p:cNvSpPr/>
            <p:nvPr/>
          </p:nvSpPr>
          <p:spPr>
            <a:xfrm>
              <a:off x="109728" y="3998214"/>
              <a:ext cx="73152" cy="73152"/>
            </a:xfrm>
            <a:prstGeom prst="ellipse">
              <a:avLst/>
            </a:prstGeom>
            <a:solidFill>
              <a:schemeClr val="accent2">
                <a:alpha val="65000"/>
              </a:schemeClr>
            </a:solidFill>
            <a:ln/>
          </p:spPr>
          <p:txBody>
            <a:bodyPr/>
            <a:lstStyle/>
            <a:p>
              <a:endParaRPr lang="en-US"/>
            </a:p>
          </p:txBody>
        </p:sp>
        <p:sp>
          <p:nvSpPr>
            <p:cNvPr id="9" name="prog|dot7"/>
            <p:cNvSpPr/>
            <p:nvPr/>
          </p:nvSpPr>
          <p:spPr>
            <a:xfrm>
              <a:off x="109728" y="4604004"/>
              <a:ext cx="73152" cy="73152"/>
            </a:xfrm>
            <a:prstGeom prst="ellipse">
              <a:avLst/>
            </a:prstGeom>
            <a:solidFill>
              <a:schemeClr val="accent2">
                <a:alpha val="65000"/>
              </a:schemeClr>
            </a:solidFill>
            <a:ln/>
          </p:spPr>
          <p:txBody>
            <a:bodyPr/>
            <a:lstStyle/>
            <a:p>
              <a:endParaRPr lang="en-US"/>
            </a:p>
          </p:txBody>
        </p:sp>
        <p:sp>
          <p:nvSpPr>
            <p:cNvPr id="10" name="prog|dot8"/>
            <p:cNvSpPr/>
            <p:nvPr/>
          </p:nvSpPr>
          <p:spPr>
            <a:xfrm>
              <a:off x="109728" y="5209794"/>
              <a:ext cx="73152" cy="73152"/>
            </a:xfrm>
            <a:prstGeom prst="ellipse">
              <a:avLst/>
            </a:prstGeom>
            <a:solidFill>
              <a:schemeClr val="accent2">
                <a:alpha val="65000"/>
              </a:schemeClr>
            </a:solidFill>
            <a:ln/>
          </p:spPr>
          <p:txBody>
            <a:bodyPr/>
            <a:lstStyle/>
            <a:p>
              <a:endParaRPr lang="en-US"/>
            </a:p>
          </p:txBody>
        </p:sp>
        <p:sp>
          <p:nvSpPr>
            <p:cNvPr id="11" name="prog|dot9"/>
            <p:cNvSpPr/>
            <p:nvPr/>
          </p:nvSpPr>
          <p:spPr>
            <a:xfrm>
              <a:off x="109728" y="5815584"/>
              <a:ext cx="73152" cy="73152"/>
            </a:xfrm>
            <a:prstGeom prst="ellipse">
              <a:avLst/>
            </a:prstGeom>
            <a:solidFill>
              <a:schemeClr val="accent2">
                <a:alpha val="65000"/>
              </a:schemeClr>
            </a:solidFill>
            <a:ln/>
          </p:spPr>
          <p:txBody>
            <a:bodyPr/>
            <a:lstStyle/>
            <a:p>
              <a:endParaRPr lang="en-US"/>
            </a:p>
          </p:txBody>
        </p:sp>
      </p:grpSp>
      <p:sp>
        <p:nvSpPr>
          <p:cNvPr id="12" name="Text 0"/>
          <p:cNvSpPr>
            <a:spLocks noGrp="1"/>
          </p:cNvSpPr>
          <p:nvPr>
            <p:ph type="title" idx="100" hasCustomPrompt="1"/>
          </p:nvPr>
        </p:nvSpPr>
        <p:spPr>
          <a:xfrm>
            <a:off x="777240" y="320040"/>
            <a:ext cx="10789920" cy="1051560"/>
          </a:xfrm>
          <a:prstGeom prst="rect">
            <a:avLst/>
          </a:prstGeom>
          <a:noFill/>
          <a:ln/>
        </p:spPr>
        <p:txBody>
          <a:bodyPr wrap="square" lIns="0" tIns="0" rIns="0" bIns="0" rtlCol="0" anchor="ctr"/>
          <a:lstStyle/>
          <a:p>
            <a:pPr marL="0" indent="0" algn="l">
              <a:buNone/>
            </a:pPr>
            <a:r>
              <a:rPr lang="en-US" sz="3200" dirty="0">
                <a:solidFill>
                  <a:schemeClr val="tx1"/>
                </a:solidFill>
              </a:rPr>
              <a:t>Most of the wrong guesses fall into three areas</a:t>
            </a:r>
            <a:endParaRPr lang="en-US" sz="3200" dirty="0"/>
          </a:p>
        </p:txBody>
      </p:sp>
      <p:grpSp>
        <p:nvGrpSpPr>
          <p:cNvPr id="39" name="Figure" descr="Three panels showing scope creep, unverified completion, and lost context between sessions."/>
          <p:cNvGrpSpPr/>
          <p:nvPr/>
        </p:nvGrpSpPr>
        <p:grpSpPr>
          <a:xfrm>
            <a:off x="777240" y="1554480"/>
            <a:ext cx="10789920" cy="4663440"/>
            <a:chOff x="777240" y="1554480"/>
            <a:chExt cx="10789920" cy="4663440"/>
          </a:xfrm>
        </p:grpSpPr>
        <p:sp>
          <p:nvSpPr>
            <p:cNvPr id="13" name="fig|leak-panel"/>
            <p:cNvSpPr/>
            <p:nvPr/>
          </p:nvSpPr>
          <p:spPr>
            <a:xfrm>
              <a:off x="777240" y="1554480"/>
              <a:ext cx="3383280" cy="4663440"/>
            </a:xfrm>
            <a:prstGeom prst="roundRect">
              <a:avLst>
                <a:gd name="adj" fmla="val 4054"/>
              </a:avLst>
            </a:prstGeom>
            <a:solidFill>
              <a:schemeClr val="accent1"/>
            </a:solidFill>
            <a:ln/>
          </p:spPr>
          <p:txBody>
            <a:bodyPr/>
            <a:lstStyle/>
            <a:p>
              <a:endParaRPr lang="en-US"/>
            </a:p>
          </p:txBody>
        </p:sp>
        <p:sp>
          <p:nvSpPr>
            <p:cNvPr id="14" name="fig|leak-head"/>
            <p:cNvSpPr txBox="1"/>
            <p:nvPr/>
          </p:nvSpPr>
          <p:spPr>
            <a:xfrm>
              <a:off x="1051560" y="1783080"/>
              <a:ext cx="2834640" cy="502920"/>
            </a:xfrm>
            <a:prstGeom prst="rect">
              <a:avLst/>
            </a:prstGeom>
            <a:noFill/>
            <a:ln/>
          </p:spPr>
          <p:txBody>
            <a:bodyPr wrap="square" lIns="0" tIns="0" rIns="0" bIns="0" rtlCol="0" anchor="t"/>
            <a:lstStyle/>
            <a:p>
              <a:pPr marL="0" indent="0">
                <a:buNone/>
              </a:pPr>
              <a:r>
                <a:rPr lang="en-US" sz="2800" dirty="0">
                  <a:solidFill>
                    <a:schemeClr val="bg1"/>
                  </a:solidFill>
                  <a:latin typeface="+mj-lt" pitchFamily="34" charset="0"/>
                  <a:ea typeface="+mj-lt" pitchFamily="34" charset="-122"/>
                  <a:cs typeface="+mj-lt" pitchFamily="34" charset="-120"/>
                </a:rPr>
                <a:t>Scope</a:t>
              </a:r>
              <a:endParaRPr lang="en-US" sz="2800" dirty="0"/>
            </a:p>
          </p:txBody>
        </p:sp>
        <p:sp>
          <p:nvSpPr>
            <p:cNvPr id="15" name="fig|leak-text"/>
            <p:cNvSpPr txBox="1"/>
            <p:nvPr/>
          </p:nvSpPr>
          <p:spPr>
            <a:xfrm>
              <a:off x="1051560" y="2377440"/>
              <a:ext cx="2834640" cy="1463040"/>
            </a:xfrm>
            <a:prstGeom prst="rect">
              <a:avLst/>
            </a:prstGeom>
            <a:noFill/>
            <a:ln/>
          </p:spPr>
          <p:txBody>
            <a:bodyPr wrap="square" lIns="0" tIns="0" rIns="0" bIns="0" rtlCol="0" anchor="t"/>
            <a:lstStyle/>
            <a:p>
              <a:pPr marL="0" indent="0">
                <a:buNone/>
              </a:pPr>
              <a:r>
                <a:rPr lang="en-US" sz="2000" dirty="0">
                  <a:solidFill>
                    <a:schemeClr val="accent2"/>
                  </a:solidFill>
                </a:rPr>
                <a:t>It changes files or features you didn't ask it to touch.</a:t>
              </a:r>
              <a:endParaRPr lang="en-US" sz="2000" dirty="0"/>
            </a:p>
          </p:txBody>
        </p:sp>
        <p:sp>
          <p:nvSpPr>
            <p:cNvPr id="16" name="fig|leak-panel"/>
            <p:cNvSpPr/>
            <p:nvPr/>
          </p:nvSpPr>
          <p:spPr>
            <a:xfrm>
              <a:off x="4480560" y="1554480"/>
              <a:ext cx="3383280" cy="4663440"/>
            </a:xfrm>
            <a:prstGeom prst="roundRect">
              <a:avLst>
                <a:gd name="adj" fmla="val 4054"/>
              </a:avLst>
            </a:prstGeom>
            <a:solidFill>
              <a:schemeClr val="accent2"/>
            </a:solidFill>
            <a:ln/>
          </p:spPr>
          <p:txBody>
            <a:bodyPr/>
            <a:lstStyle/>
            <a:p>
              <a:endParaRPr lang="en-US"/>
            </a:p>
          </p:txBody>
        </p:sp>
        <p:sp>
          <p:nvSpPr>
            <p:cNvPr id="17" name="fig|leak-head"/>
            <p:cNvSpPr txBox="1"/>
            <p:nvPr/>
          </p:nvSpPr>
          <p:spPr>
            <a:xfrm>
              <a:off x="4754880" y="1783080"/>
              <a:ext cx="2834640" cy="502920"/>
            </a:xfrm>
            <a:prstGeom prst="rect">
              <a:avLst/>
            </a:prstGeom>
            <a:noFill/>
            <a:ln/>
          </p:spPr>
          <p:txBody>
            <a:bodyPr wrap="square" lIns="0" tIns="0" rIns="0" bIns="0" rtlCol="0" anchor="t"/>
            <a:lstStyle/>
            <a:p>
              <a:pPr marL="0" indent="0">
                <a:buNone/>
              </a:pPr>
              <a:r>
                <a:rPr lang="en-US" sz="2800" dirty="0">
                  <a:solidFill>
                    <a:schemeClr val="tx1"/>
                  </a:solidFill>
                  <a:latin typeface="+mj-lt" pitchFamily="34" charset="0"/>
                  <a:ea typeface="+mj-lt" pitchFamily="34" charset="-122"/>
                  <a:cs typeface="+mj-lt" pitchFamily="34" charset="-120"/>
                </a:rPr>
                <a:t>Completion</a:t>
              </a:r>
              <a:endParaRPr lang="en-US" sz="2800" dirty="0"/>
            </a:p>
          </p:txBody>
        </p:sp>
        <p:sp>
          <p:nvSpPr>
            <p:cNvPr id="18" name="fig|leak-text"/>
            <p:cNvSpPr txBox="1"/>
            <p:nvPr/>
          </p:nvSpPr>
          <p:spPr>
            <a:xfrm>
              <a:off x="4754880" y="2377440"/>
              <a:ext cx="2834640" cy="1463040"/>
            </a:xfrm>
            <a:prstGeom prst="rect">
              <a:avLst/>
            </a:prstGeom>
            <a:noFill/>
            <a:ln/>
          </p:spPr>
          <p:txBody>
            <a:bodyPr wrap="square" lIns="0" tIns="0" rIns="0" bIns="0" rtlCol="0" anchor="t"/>
            <a:lstStyle/>
            <a:p>
              <a:pPr marL="0" indent="0">
                <a:buNone/>
              </a:pPr>
              <a:r>
                <a:rPr lang="en-US" sz="2000" dirty="0">
                  <a:solidFill>
                    <a:schemeClr val="tx1"/>
                  </a:solidFill>
                </a:rPr>
                <a:t>It reports the work as done without running anything to confirm it.</a:t>
              </a:r>
              <a:endParaRPr lang="en-US" sz="2000" dirty="0"/>
            </a:p>
          </p:txBody>
        </p:sp>
        <p:sp>
          <p:nvSpPr>
            <p:cNvPr id="19" name="fig|leak-panel"/>
            <p:cNvSpPr/>
            <p:nvPr/>
          </p:nvSpPr>
          <p:spPr>
            <a:xfrm>
              <a:off x="8183880" y="1554480"/>
              <a:ext cx="3383280" cy="4663440"/>
            </a:xfrm>
            <a:prstGeom prst="roundRect">
              <a:avLst>
                <a:gd name="adj" fmla="val 4054"/>
              </a:avLst>
            </a:prstGeom>
            <a:solidFill>
              <a:schemeClr val="tx1"/>
            </a:solidFill>
            <a:ln/>
          </p:spPr>
          <p:txBody>
            <a:bodyPr/>
            <a:lstStyle/>
            <a:p>
              <a:endParaRPr lang="en-US"/>
            </a:p>
          </p:txBody>
        </p:sp>
        <p:sp>
          <p:nvSpPr>
            <p:cNvPr id="20" name="fig|leak-head"/>
            <p:cNvSpPr txBox="1"/>
            <p:nvPr/>
          </p:nvSpPr>
          <p:spPr>
            <a:xfrm>
              <a:off x="8458200" y="1783080"/>
              <a:ext cx="2834640" cy="502920"/>
            </a:xfrm>
            <a:prstGeom prst="rect">
              <a:avLst/>
            </a:prstGeom>
            <a:noFill/>
            <a:ln/>
          </p:spPr>
          <p:txBody>
            <a:bodyPr wrap="square" lIns="0" tIns="0" rIns="0" bIns="0" rtlCol="0" anchor="t"/>
            <a:lstStyle/>
            <a:p>
              <a:pPr marL="0" indent="0">
                <a:buNone/>
              </a:pPr>
              <a:r>
                <a:rPr lang="en-US" sz="2800" dirty="0">
                  <a:solidFill>
                    <a:schemeClr val="bg1"/>
                  </a:solidFill>
                  <a:latin typeface="+mj-lt" pitchFamily="34" charset="0"/>
                  <a:ea typeface="+mj-lt" pitchFamily="34" charset="-122"/>
                  <a:cs typeface="+mj-lt" pitchFamily="34" charset="-120"/>
                </a:rPr>
                <a:t>Continuity</a:t>
              </a:r>
              <a:endParaRPr lang="en-US" sz="2800" dirty="0"/>
            </a:p>
          </p:txBody>
        </p:sp>
        <p:sp>
          <p:nvSpPr>
            <p:cNvPr id="21" name="fig|leak-text"/>
            <p:cNvSpPr txBox="1"/>
            <p:nvPr/>
          </p:nvSpPr>
          <p:spPr>
            <a:xfrm>
              <a:off x="8458200" y="2377440"/>
              <a:ext cx="2834640" cy="1463040"/>
            </a:xfrm>
            <a:prstGeom prst="rect">
              <a:avLst/>
            </a:prstGeom>
            <a:noFill/>
            <a:ln/>
          </p:spPr>
          <p:txBody>
            <a:bodyPr wrap="square" lIns="0" tIns="0" rIns="0" bIns="0" rtlCol="0" anchor="t"/>
            <a:lstStyle/>
            <a:p>
              <a:pPr marL="0" indent="0">
                <a:buNone/>
              </a:pPr>
              <a:r>
                <a:rPr lang="en-US" sz="2000" dirty="0">
                  <a:solidFill>
                    <a:schemeClr val="accent2"/>
                  </a:solidFill>
                </a:rPr>
                <a:t>Nothing is written down, so the next session has to work out what was decided.</a:t>
              </a:r>
              <a:endParaRPr lang="en-US" sz="2000" dirty="0"/>
            </a:p>
          </p:txBody>
        </p:sp>
        <p:sp>
          <p:nvSpPr>
            <p:cNvPr id="22" name="fig|stray-tab"/>
            <p:cNvSpPr/>
            <p:nvPr/>
          </p:nvSpPr>
          <p:spPr>
            <a:xfrm>
              <a:off x="1051560" y="4069080"/>
              <a:ext cx="1737360" cy="347472"/>
            </a:xfrm>
            <a:prstGeom prst="roundRect">
              <a:avLst>
                <a:gd name="adj" fmla="val 15789"/>
              </a:avLst>
            </a:prstGeom>
            <a:solidFill>
              <a:schemeClr val="bg1"/>
            </a:solidFill>
            <a:ln/>
          </p:spPr>
          <p:txBody>
            <a:bodyPr/>
            <a:lstStyle/>
            <a:p>
              <a:endParaRPr lang="en-US"/>
            </a:p>
          </p:txBody>
        </p:sp>
        <p:sp>
          <p:nvSpPr>
            <p:cNvPr id="23" name="fig|stray-tab"/>
            <p:cNvSpPr/>
            <p:nvPr/>
          </p:nvSpPr>
          <p:spPr>
            <a:xfrm>
              <a:off x="1325880" y="4526280"/>
              <a:ext cx="1737360" cy="347472"/>
            </a:xfrm>
            <a:prstGeom prst="roundRect">
              <a:avLst>
                <a:gd name="adj" fmla="val 15789"/>
              </a:avLst>
            </a:prstGeom>
            <a:solidFill>
              <a:schemeClr val="bg1">
                <a:alpha val="65000"/>
              </a:schemeClr>
            </a:solidFill>
            <a:ln/>
          </p:spPr>
          <p:txBody>
            <a:bodyPr/>
            <a:lstStyle/>
            <a:p>
              <a:endParaRPr lang="en-US"/>
            </a:p>
          </p:txBody>
        </p:sp>
        <p:sp>
          <p:nvSpPr>
            <p:cNvPr id="24" name="fig|stray-tab"/>
            <p:cNvSpPr/>
            <p:nvPr/>
          </p:nvSpPr>
          <p:spPr>
            <a:xfrm>
              <a:off x="1600200" y="4983480"/>
              <a:ext cx="1737360" cy="347472"/>
            </a:xfrm>
            <a:prstGeom prst="roundRect">
              <a:avLst>
                <a:gd name="adj" fmla="val 15789"/>
              </a:avLst>
            </a:prstGeom>
            <a:solidFill>
              <a:schemeClr val="bg1">
                <a:alpha val="45000"/>
              </a:schemeClr>
            </a:solidFill>
            <a:ln/>
          </p:spPr>
          <p:txBody>
            <a:bodyPr/>
            <a:lstStyle/>
            <a:p>
              <a:endParaRPr lang="en-US"/>
            </a:p>
          </p:txBody>
        </p:sp>
        <p:sp>
          <p:nvSpPr>
            <p:cNvPr id="25" name="fig|stray-tab"/>
            <p:cNvSpPr/>
            <p:nvPr/>
          </p:nvSpPr>
          <p:spPr>
            <a:xfrm>
              <a:off x="1874520" y="5440680"/>
              <a:ext cx="1737360" cy="347472"/>
            </a:xfrm>
            <a:prstGeom prst="roundRect">
              <a:avLst>
                <a:gd name="adj" fmla="val 15789"/>
              </a:avLst>
            </a:prstGeom>
            <a:solidFill>
              <a:schemeClr val="bg1">
                <a:alpha val="28000"/>
              </a:schemeClr>
            </a:solidFill>
            <a:ln/>
          </p:spPr>
          <p:txBody>
            <a:bodyPr/>
            <a:lstStyle/>
            <a:p>
              <a:endParaRPr lang="en-US"/>
            </a:p>
          </p:txBody>
        </p:sp>
        <p:sp>
          <p:nvSpPr>
            <p:cNvPr id="26" name="fig|unchecked-box"/>
            <p:cNvSpPr/>
            <p:nvPr/>
          </p:nvSpPr>
          <p:spPr>
            <a:xfrm>
              <a:off x="4754880" y="4069080"/>
              <a:ext cx="310896" cy="310896"/>
            </a:xfrm>
            <a:prstGeom prst="roundRect">
              <a:avLst>
                <a:gd name="adj" fmla="val 11765"/>
              </a:avLst>
            </a:prstGeom>
            <a:ln w="25400">
              <a:solidFill>
                <a:schemeClr val="tx1"/>
              </a:solidFill>
              <a:prstDash val="solid"/>
            </a:ln>
          </p:spPr>
          <p:txBody>
            <a:bodyPr/>
            <a:lstStyle/>
            <a:p>
              <a:endParaRPr lang="en-US"/>
            </a:p>
          </p:txBody>
        </p:sp>
        <p:sp>
          <p:nvSpPr>
            <p:cNvPr id="27" name="fig|unchecked-item"/>
            <p:cNvSpPr/>
            <p:nvPr/>
          </p:nvSpPr>
          <p:spPr>
            <a:xfrm>
              <a:off x="5257800" y="4178808"/>
              <a:ext cx="1737360" cy="91440"/>
            </a:xfrm>
            <a:prstGeom prst="rect">
              <a:avLst/>
            </a:prstGeom>
            <a:solidFill>
              <a:schemeClr val="tx1">
                <a:alpha val="45000"/>
              </a:schemeClr>
            </a:solidFill>
            <a:ln/>
          </p:spPr>
          <p:txBody>
            <a:bodyPr/>
            <a:lstStyle/>
            <a:p>
              <a:endParaRPr lang="en-US"/>
            </a:p>
          </p:txBody>
        </p:sp>
        <p:sp>
          <p:nvSpPr>
            <p:cNvPr id="28" name="fig|unchecked-box"/>
            <p:cNvSpPr/>
            <p:nvPr/>
          </p:nvSpPr>
          <p:spPr>
            <a:xfrm>
              <a:off x="4754880" y="4617720"/>
              <a:ext cx="310896" cy="310896"/>
            </a:xfrm>
            <a:prstGeom prst="roundRect">
              <a:avLst>
                <a:gd name="adj" fmla="val 11765"/>
              </a:avLst>
            </a:prstGeom>
            <a:ln w="25400">
              <a:solidFill>
                <a:schemeClr val="tx1"/>
              </a:solidFill>
              <a:prstDash val="solid"/>
            </a:ln>
          </p:spPr>
          <p:txBody>
            <a:bodyPr/>
            <a:lstStyle/>
            <a:p>
              <a:endParaRPr lang="en-US"/>
            </a:p>
          </p:txBody>
        </p:sp>
        <p:sp>
          <p:nvSpPr>
            <p:cNvPr id="29" name="fig|unchecked-item"/>
            <p:cNvSpPr/>
            <p:nvPr/>
          </p:nvSpPr>
          <p:spPr>
            <a:xfrm>
              <a:off x="5257800" y="4727448"/>
              <a:ext cx="1463040" cy="91440"/>
            </a:xfrm>
            <a:prstGeom prst="rect">
              <a:avLst/>
            </a:prstGeom>
            <a:solidFill>
              <a:schemeClr val="tx1">
                <a:alpha val="45000"/>
              </a:schemeClr>
            </a:solidFill>
            <a:ln/>
          </p:spPr>
          <p:txBody>
            <a:bodyPr/>
            <a:lstStyle/>
            <a:p>
              <a:endParaRPr lang="en-US"/>
            </a:p>
          </p:txBody>
        </p:sp>
        <p:sp>
          <p:nvSpPr>
            <p:cNvPr id="30" name="fig|unchecked-box"/>
            <p:cNvSpPr/>
            <p:nvPr/>
          </p:nvSpPr>
          <p:spPr>
            <a:xfrm>
              <a:off x="4754880" y="5166360"/>
              <a:ext cx="310896" cy="310896"/>
            </a:xfrm>
            <a:prstGeom prst="roundRect">
              <a:avLst>
                <a:gd name="adj" fmla="val 11765"/>
              </a:avLst>
            </a:prstGeom>
            <a:ln w="25400">
              <a:solidFill>
                <a:schemeClr val="tx1"/>
              </a:solidFill>
              <a:prstDash val="solid"/>
            </a:ln>
          </p:spPr>
          <p:txBody>
            <a:bodyPr/>
            <a:lstStyle/>
            <a:p>
              <a:endParaRPr lang="en-US"/>
            </a:p>
          </p:txBody>
        </p:sp>
        <p:sp>
          <p:nvSpPr>
            <p:cNvPr id="31" name="fig|unchecked-item"/>
            <p:cNvSpPr/>
            <p:nvPr/>
          </p:nvSpPr>
          <p:spPr>
            <a:xfrm>
              <a:off x="5257800" y="5276088"/>
              <a:ext cx="1188720" cy="91440"/>
            </a:xfrm>
            <a:prstGeom prst="rect">
              <a:avLst/>
            </a:prstGeom>
            <a:solidFill>
              <a:schemeClr val="tx1">
                <a:alpha val="45000"/>
              </a:schemeClr>
            </a:solidFill>
            <a:ln/>
          </p:spPr>
          <p:txBody>
            <a:bodyPr/>
            <a:lstStyle/>
            <a:p>
              <a:endParaRPr lang="en-US"/>
            </a:p>
          </p:txBody>
        </p:sp>
        <p:sp>
          <p:nvSpPr>
            <p:cNvPr id="32" name="fig|done-stamp"/>
            <p:cNvSpPr/>
            <p:nvPr/>
          </p:nvSpPr>
          <p:spPr>
            <a:xfrm rot="-540000">
              <a:off x="5623560" y="5257800"/>
              <a:ext cx="1828800" cy="603504"/>
            </a:xfrm>
            <a:prstGeom prst="roundRect">
              <a:avLst>
                <a:gd name="adj" fmla="val 9091"/>
              </a:avLst>
            </a:prstGeom>
            <a:solidFill>
              <a:schemeClr val="accent1"/>
            </a:solidFill>
            <a:ln/>
          </p:spPr>
          <p:txBody>
            <a:bodyPr wrap="square" lIns="0" tIns="0" rIns="0" bIns="0" rtlCol="0" anchor="ctr"/>
            <a:lstStyle/>
            <a:p>
              <a:pPr marL="0" indent="0" algn="ctr">
                <a:buNone/>
              </a:pPr>
              <a:r>
                <a:rPr lang="en-US" sz="2800" kern="0" spc="400" dirty="0">
                  <a:solidFill>
                    <a:schemeClr val="bg1"/>
                  </a:solidFill>
                  <a:latin typeface="+mj-lt" pitchFamily="34" charset="0"/>
                  <a:ea typeface="+mj-lt" pitchFamily="34" charset="-122"/>
                  <a:cs typeface="+mj-lt" pitchFamily="34" charset="-120"/>
                </a:rPr>
                <a:t>DONE</a:t>
              </a:r>
              <a:endParaRPr lang="en-US" sz="2800" dirty="0"/>
            </a:p>
          </p:txBody>
        </p:sp>
        <p:sp>
          <p:nvSpPr>
            <p:cNvPr id="33" name="fig|session"/>
            <p:cNvSpPr/>
            <p:nvPr/>
          </p:nvSpPr>
          <p:spPr>
            <a:xfrm>
              <a:off x="8458200" y="4297680"/>
              <a:ext cx="1051560" cy="914400"/>
            </a:xfrm>
            <a:prstGeom prst="roundRect">
              <a:avLst>
                <a:gd name="adj" fmla="val 8000"/>
              </a:avLst>
            </a:prstGeom>
            <a:solidFill>
              <a:schemeClr val="bg1"/>
            </a:solidFill>
            <a:ln/>
          </p:spPr>
          <p:txBody>
            <a:bodyPr wrap="square" lIns="0" tIns="0" rIns="0" bIns="0" rtlCol="0" anchor="ctr"/>
            <a:lstStyle/>
            <a:p>
              <a:pPr marL="0" indent="0" algn="ctr">
                <a:buNone/>
              </a:pPr>
              <a:r>
                <a:rPr lang="en-US" sz="2400" dirty="0">
                  <a:solidFill>
                    <a:schemeClr val="tx1"/>
                  </a:solidFill>
                  <a:latin typeface="Consolas" pitchFamily="34" charset="0"/>
                  <a:ea typeface="Consolas" pitchFamily="34" charset="-122"/>
                  <a:cs typeface="Consolas" pitchFamily="34" charset="-120"/>
                </a:rPr>
                <a:t>s1</a:t>
              </a:r>
              <a:endParaRPr lang="en-US" sz="2400" dirty="0"/>
            </a:p>
          </p:txBody>
        </p:sp>
        <p:sp>
          <p:nvSpPr>
            <p:cNvPr id="34" name="fig|session"/>
            <p:cNvSpPr/>
            <p:nvPr/>
          </p:nvSpPr>
          <p:spPr>
            <a:xfrm>
              <a:off x="10241280" y="4297680"/>
              <a:ext cx="1051560" cy="914400"/>
            </a:xfrm>
            <a:prstGeom prst="roundRect">
              <a:avLst>
                <a:gd name="adj" fmla="val 8000"/>
              </a:avLst>
            </a:prstGeom>
            <a:ln w="19050">
              <a:solidFill>
                <a:schemeClr val="bg1"/>
              </a:solidFill>
              <a:prstDash val="dash"/>
            </a:ln>
          </p:spPr>
          <p:txBody>
            <a:bodyPr wrap="square" lIns="0" tIns="0" rIns="0" bIns="0" rtlCol="0" anchor="ctr"/>
            <a:lstStyle/>
            <a:p>
              <a:pPr marL="0" indent="0" algn="ctr">
                <a:buNone/>
              </a:pPr>
              <a:r>
                <a:rPr lang="en-US" sz="2400" dirty="0">
                  <a:solidFill>
                    <a:schemeClr val="bg1"/>
                  </a:solidFill>
                  <a:latin typeface="Consolas" pitchFamily="34" charset="0"/>
                  <a:ea typeface="Consolas" pitchFamily="34" charset="-122"/>
                  <a:cs typeface="Consolas" pitchFamily="34" charset="-120"/>
                </a:rPr>
                <a:t>s2</a:t>
              </a:r>
              <a:endParaRPr lang="en-US" sz="2400" dirty="0"/>
            </a:p>
          </p:txBody>
        </p:sp>
        <p:sp>
          <p:nvSpPr>
            <p:cNvPr id="35" name="fig|handoff"/>
            <p:cNvSpPr/>
            <p:nvPr/>
          </p:nvSpPr>
          <p:spPr>
            <a:xfrm>
              <a:off x="9555480" y="4754880"/>
              <a:ext cx="228600" cy="0"/>
            </a:xfrm>
            <a:prstGeom prst="line">
              <a:avLst/>
            </a:prstGeom>
            <a:noFill/>
            <a:ln w="50800">
              <a:solidFill>
                <a:schemeClr val="accent2"/>
              </a:solidFill>
              <a:prstDash val="solid"/>
            </a:ln>
          </p:spPr>
          <p:txBody>
            <a:bodyPr/>
            <a:lstStyle/>
            <a:p>
              <a:endParaRPr lang="en-US"/>
            </a:p>
          </p:txBody>
        </p:sp>
        <p:sp>
          <p:nvSpPr>
            <p:cNvPr id="36" name="fig|handoff"/>
            <p:cNvSpPr/>
            <p:nvPr/>
          </p:nvSpPr>
          <p:spPr>
            <a:xfrm>
              <a:off x="9966960" y="4754880"/>
              <a:ext cx="228600" cy="0"/>
            </a:xfrm>
            <a:prstGeom prst="line">
              <a:avLst/>
            </a:prstGeom>
            <a:noFill/>
            <a:ln w="50800">
              <a:solidFill>
                <a:schemeClr val="accent2"/>
              </a:solidFill>
              <a:prstDash val="solid"/>
              <a:tailEnd type="triangle"/>
            </a:ln>
          </p:spPr>
          <p:txBody>
            <a:bodyPr/>
            <a:lstStyle/>
            <a:p>
              <a:endParaRPr lang="en-US"/>
            </a:p>
          </p:txBody>
        </p:sp>
        <p:sp>
          <p:nvSpPr>
            <p:cNvPr id="37" name="fig|handoff-break"/>
            <p:cNvSpPr/>
            <p:nvPr/>
          </p:nvSpPr>
          <p:spPr>
            <a:xfrm>
              <a:off x="9811512" y="4526280"/>
              <a:ext cx="128016" cy="457200"/>
            </a:xfrm>
            <a:prstGeom prst="line">
              <a:avLst/>
            </a:prstGeom>
            <a:noFill/>
            <a:ln w="38100">
              <a:solidFill>
                <a:schemeClr val="bg1"/>
              </a:solidFill>
              <a:prstDash val="solid"/>
            </a:ln>
          </p:spPr>
          <p:txBody>
            <a:bodyPr/>
            <a:lstStyle/>
            <a:p>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grpSp>
        <p:nvGrpSpPr>
          <p:cNvPr id="30" name="Progress marker" descr="Progress marker: slide 5 of 9"/>
          <p:cNvGrpSpPr/>
          <p:nvPr/>
        </p:nvGrpSpPr>
        <p:grpSpPr>
          <a:xfrm>
            <a:off x="0" y="0"/>
            <a:ext cx="292608" cy="6858000"/>
            <a:chOff x="0" y="0"/>
            <a:chExt cx="292608" cy="6858000"/>
          </a:xfrm>
        </p:grpSpPr>
        <p:sp>
          <p:nvSpPr>
            <p:cNvPr id="2" name="prog|strip"/>
            <p:cNvSpPr/>
            <p:nvPr/>
          </p:nvSpPr>
          <p:spPr>
            <a:xfrm>
              <a:off x="0" y="0"/>
              <a:ext cx="292608" cy="6858000"/>
            </a:xfrm>
            <a:prstGeom prst="rect">
              <a:avLst/>
            </a:prstGeom>
            <a:solidFill>
              <a:schemeClr val="accent1"/>
            </a:solidFill>
            <a:ln/>
          </p:spPr>
          <p:txBody>
            <a:bodyPr/>
            <a:lstStyle/>
            <a:p>
              <a:endParaRPr lang="en-US"/>
            </a:p>
          </p:txBody>
        </p:sp>
        <p:sp>
          <p:nvSpPr>
            <p:cNvPr id="3" name="prog|dot1"/>
            <p:cNvSpPr/>
            <p:nvPr/>
          </p:nvSpPr>
          <p:spPr>
            <a:xfrm>
              <a:off x="109728" y="969264"/>
              <a:ext cx="73152" cy="73152"/>
            </a:xfrm>
            <a:prstGeom prst="ellipse">
              <a:avLst/>
            </a:prstGeom>
            <a:solidFill>
              <a:schemeClr val="accent2">
                <a:alpha val="65000"/>
              </a:schemeClr>
            </a:solidFill>
            <a:ln/>
          </p:spPr>
          <p:txBody>
            <a:bodyPr/>
            <a:lstStyle/>
            <a:p>
              <a:endParaRPr lang="en-US"/>
            </a:p>
          </p:txBody>
        </p:sp>
        <p:sp>
          <p:nvSpPr>
            <p:cNvPr id="4" name="prog|dot2"/>
            <p:cNvSpPr/>
            <p:nvPr/>
          </p:nvSpPr>
          <p:spPr>
            <a:xfrm>
              <a:off x="109728" y="1575054"/>
              <a:ext cx="73152" cy="73152"/>
            </a:xfrm>
            <a:prstGeom prst="ellipse">
              <a:avLst/>
            </a:prstGeom>
            <a:solidFill>
              <a:schemeClr val="accent2">
                <a:alpha val="65000"/>
              </a:schemeClr>
            </a:solidFill>
            <a:ln/>
          </p:spPr>
          <p:txBody>
            <a:bodyPr/>
            <a:lstStyle/>
            <a:p>
              <a:endParaRPr lang="en-US"/>
            </a:p>
          </p:txBody>
        </p:sp>
        <p:sp>
          <p:nvSpPr>
            <p:cNvPr id="5" name="prog|dot3"/>
            <p:cNvSpPr/>
            <p:nvPr/>
          </p:nvSpPr>
          <p:spPr>
            <a:xfrm>
              <a:off x="109728" y="2180844"/>
              <a:ext cx="73152" cy="73152"/>
            </a:xfrm>
            <a:prstGeom prst="ellipse">
              <a:avLst/>
            </a:prstGeom>
            <a:solidFill>
              <a:schemeClr val="accent2">
                <a:alpha val="65000"/>
              </a:schemeClr>
            </a:solidFill>
            <a:ln/>
          </p:spPr>
          <p:txBody>
            <a:bodyPr/>
            <a:lstStyle/>
            <a:p>
              <a:endParaRPr lang="en-US"/>
            </a:p>
          </p:txBody>
        </p:sp>
        <p:sp>
          <p:nvSpPr>
            <p:cNvPr id="6" name="prog|dot4"/>
            <p:cNvSpPr/>
            <p:nvPr/>
          </p:nvSpPr>
          <p:spPr>
            <a:xfrm>
              <a:off x="109728" y="2786634"/>
              <a:ext cx="73152" cy="73152"/>
            </a:xfrm>
            <a:prstGeom prst="ellipse">
              <a:avLst/>
            </a:prstGeom>
            <a:solidFill>
              <a:schemeClr val="accent2">
                <a:alpha val="65000"/>
              </a:schemeClr>
            </a:solidFill>
            <a:ln/>
          </p:spPr>
          <p:txBody>
            <a:bodyPr/>
            <a:lstStyle/>
            <a:p>
              <a:endParaRPr lang="en-US"/>
            </a:p>
          </p:txBody>
        </p:sp>
        <p:sp>
          <p:nvSpPr>
            <p:cNvPr id="7" name="prog|dot5"/>
            <p:cNvSpPr/>
            <p:nvPr/>
          </p:nvSpPr>
          <p:spPr>
            <a:xfrm>
              <a:off x="64008" y="3346704"/>
              <a:ext cx="164592" cy="164592"/>
            </a:xfrm>
            <a:prstGeom prst="ellipse">
              <a:avLst/>
            </a:prstGeom>
            <a:solidFill>
              <a:schemeClr val="bg1"/>
            </a:solidFill>
            <a:ln/>
          </p:spPr>
          <p:txBody>
            <a:bodyPr/>
            <a:lstStyle/>
            <a:p>
              <a:endParaRPr lang="en-US"/>
            </a:p>
          </p:txBody>
        </p:sp>
        <p:sp>
          <p:nvSpPr>
            <p:cNvPr id="8" name="prog|dot6"/>
            <p:cNvSpPr/>
            <p:nvPr/>
          </p:nvSpPr>
          <p:spPr>
            <a:xfrm>
              <a:off x="109728" y="3998214"/>
              <a:ext cx="73152" cy="73152"/>
            </a:xfrm>
            <a:prstGeom prst="ellipse">
              <a:avLst/>
            </a:prstGeom>
            <a:solidFill>
              <a:schemeClr val="accent2">
                <a:alpha val="65000"/>
              </a:schemeClr>
            </a:solidFill>
            <a:ln/>
          </p:spPr>
          <p:txBody>
            <a:bodyPr/>
            <a:lstStyle/>
            <a:p>
              <a:endParaRPr lang="en-US"/>
            </a:p>
          </p:txBody>
        </p:sp>
        <p:sp>
          <p:nvSpPr>
            <p:cNvPr id="9" name="prog|dot7"/>
            <p:cNvSpPr/>
            <p:nvPr/>
          </p:nvSpPr>
          <p:spPr>
            <a:xfrm>
              <a:off x="109728" y="4604004"/>
              <a:ext cx="73152" cy="73152"/>
            </a:xfrm>
            <a:prstGeom prst="ellipse">
              <a:avLst/>
            </a:prstGeom>
            <a:solidFill>
              <a:schemeClr val="accent2">
                <a:alpha val="65000"/>
              </a:schemeClr>
            </a:solidFill>
            <a:ln/>
          </p:spPr>
          <p:txBody>
            <a:bodyPr/>
            <a:lstStyle/>
            <a:p>
              <a:endParaRPr lang="en-US"/>
            </a:p>
          </p:txBody>
        </p:sp>
        <p:sp>
          <p:nvSpPr>
            <p:cNvPr id="10" name="prog|dot8"/>
            <p:cNvSpPr/>
            <p:nvPr/>
          </p:nvSpPr>
          <p:spPr>
            <a:xfrm>
              <a:off x="109728" y="5209794"/>
              <a:ext cx="73152" cy="73152"/>
            </a:xfrm>
            <a:prstGeom prst="ellipse">
              <a:avLst/>
            </a:prstGeom>
            <a:solidFill>
              <a:schemeClr val="accent2">
                <a:alpha val="65000"/>
              </a:schemeClr>
            </a:solidFill>
            <a:ln/>
          </p:spPr>
          <p:txBody>
            <a:bodyPr/>
            <a:lstStyle/>
            <a:p>
              <a:endParaRPr lang="en-US"/>
            </a:p>
          </p:txBody>
        </p:sp>
        <p:sp>
          <p:nvSpPr>
            <p:cNvPr id="11" name="prog|dot9"/>
            <p:cNvSpPr/>
            <p:nvPr/>
          </p:nvSpPr>
          <p:spPr>
            <a:xfrm>
              <a:off x="109728" y="5815584"/>
              <a:ext cx="73152" cy="73152"/>
            </a:xfrm>
            <a:prstGeom prst="ellipse">
              <a:avLst/>
            </a:prstGeom>
            <a:solidFill>
              <a:schemeClr val="accent2">
                <a:alpha val="65000"/>
              </a:schemeClr>
            </a:solidFill>
            <a:ln/>
          </p:spPr>
          <p:txBody>
            <a:bodyPr/>
            <a:lstStyle/>
            <a:p>
              <a:endParaRPr lang="en-US"/>
            </a:p>
          </p:txBody>
        </p:sp>
      </p:grpSp>
      <p:sp>
        <p:nvSpPr>
          <p:cNvPr id="12" name="Text 0"/>
          <p:cNvSpPr>
            <a:spLocks noGrp="1"/>
          </p:cNvSpPr>
          <p:nvPr>
            <p:ph type="title" idx="100" hasCustomPrompt="1"/>
          </p:nvPr>
        </p:nvSpPr>
        <p:spPr>
          <a:xfrm>
            <a:off x="777240" y="320040"/>
            <a:ext cx="10789920" cy="1051560"/>
          </a:xfrm>
          <a:prstGeom prst="rect">
            <a:avLst/>
          </a:prstGeom>
          <a:noFill/>
          <a:ln/>
        </p:spPr>
        <p:txBody>
          <a:bodyPr wrap="square" lIns="0" tIns="0" rIns="0" bIns="0" rtlCol="0" anchor="ctr"/>
          <a:lstStyle/>
          <a:p>
            <a:pPr marL="0" indent="0" algn="l">
              <a:buNone/>
            </a:pPr>
            <a:r>
              <a:rPr lang="en-US" sz="3200" dirty="0">
                <a:solidFill>
                  <a:schemeClr val="tx1"/>
                </a:solidFill>
              </a:rPr>
              <a:t>Break the request into units you can check</a:t>
            </a:r>
            <a:endParaRPr lang="en-US" sz="3200" dirty="0"/>
          </a:p>
        </p:txBody>
      </p:sp>
      <p:sp>
        <p:nvSpPr>
          <p:cNvPr id="13" name="Text 11"/>
          <p:cNvSpPr txBox="1"/>
          <p:nvPr/>
        </p:nvSpPr>
        <p:spPr>
          <a:xfrm>
            <a:off x="777240" y="1554480"/>
            <a:ext cx="10789920" cy="777240"/>
          </a:xfrm>
          <a:prstGeom prst="rect">
            <a:avLst/>
          </a:prstGeom>
          <a:noFill/>
          <a:ln/>
        </p:spPr>
        <p:txBody>
          <a:bodyPr wrap="square" lIns="0" tIns="0" rIns="0" bIns="0" rtlCol="0" anchor="t"/>
          <a:lstStyle/>
          <a:p>
            <a:pPr marL="0" indent="0">
              <a:buNone/>
            </a:pPr>
            <a:r>
              <a:rPr lang="en-US" sz="2200" dirty="0">
                <a:solidFill>
                  <a:schemeClr val="tx1"/>
                </a:solidFill>
              </a:rPr>
              <a:t>A task unit has an outcome, boundaries, and a check. To find the check, ask what you would run or look at to confirm the unit works.</a:t>
            </a:r>
            <a:endParaRPr lang="en-US" sz="2200" dirty="0"/>
          </a:p>
        </p:txBody>
      </p:sp>
      <p:grpSp>
        <p:nvGrpSpPr>
          <p:cNvPr id="31" name="Figure" descr="A task card with an outcome, boundaries, and a check for a password reset."/>
          <p:cNvGrpSpPr/>
          <p:nvPr/>
        </p:nvGrpSpPr>
        <p:grpSpPr>
          <a:xfrm>
            <a:off x="777240" y="2606040"/>
            <a:ext cx="5212080" cy="3429000"/>
            <a:chOff x="777240" y="2606040"/>
            <a:chExt cx="5212080" cy="3429000"/>
          </a:xfrm>
        </p:grpSpPr>
        <p:sp>
          <p:nvSpPr>
            <p:cNvPr id="14" name="fig|task-card"/>
            <p:cNvSpPr/>
            <p:nvPr/>
          </p:nvSpPr>
          <p:spPr>
            <a:xfrm>
              <a:off x="777240" y="2606040"/>
              <a:ext cx="5212080" cy="3429000"/>
            </a:xfrm>
            <a:custGeom>
              <a:avLst/>
              <a:gdLst/>
              <a:ahLst/>
              <a:cxnLst/>
              <a:rect l="l" t="t" r="r" b="b"/>
              <a:pathLst>
                <a:path w="5212080" h="3429000">
                  <a:moveTo>
                    <a:pt x="384048" y="0"/>
                  </a:moveTo>
                  <a:lnTo>
                    <a:pt x="5212080" y="0"/>
                  </a:lnTo>
                  <a:lnTo>
                    <a:pt x="5212080" y="3044952"/>
                  </a:lnTo>
                  <a:lnTo>
                    <a:pt x="4828032" y="3429000"/>
                  </a:lnTo>
                  <a:lnTo>
                    <a:pt x="384048" y="3429000"/>
                  </a:lnTo>
                  <a:lnTo>
                    <a:pt x="0" y="3044952"/>
                  </a:lnTo>
                  <a:lnTo>
                    <a:pt x="0" y="384048"/>
                  </a:lnTo>
                  <a:close/>
                </a:path>
              </a:pathLst>
            </a:custGeom>
            <a:solidFill>
              <a:schemeClr val="accent1"/>
            </a:solidFill>
            <a:ln/>
          </p:spPr>
          <p:txBody>
            <a:bodyPr/>
            <a:lstStyle/>
            <a:p>
              <a:endParaRPr lang="en-US"/>
            </a:p>
          </p:txBody>
        </p:sp>
        <p:sp>
          <p:nvSpPr>
            <p:cNvPr id="15" name="fig|tag-hole"/>
            <p:cNvSpPr/>
            <p:nvPr/>
          </p:nvSpPr>
          <p:spPr>
            <a:xfrm>
              <a:off x="5440680" y="2862072"/>
              <a:ext cx="256032" cy="256032"/>
            </a:xfrm>
            <a:prstGeom prst="ellipse">
              <a:avLst/>
            </a:prstGeom>
            <a:solidFill>
              <a:schemeClr val="bg1"/>
            </a:solidFill>
            <a:ln/>
          </p:spPr>
          <p:txBody>
            <a:bodyPr/>
            <a:lstStyle/>
            <a:p>
              <a:endParaRPr lang="en-US"/>
            </a:p>
          </p:txBody>
        </p:sp>
        <p:sp>
          <p:nvSpPr>
            <p:cNvPr id="16" name="fig|task-term"/>
            <p:cNvSpPr txBox="1"/>
            <p:nvPr/>
          </p:nvSpPr>
          <p:spPr>
            <a:xfrm>
              <a:off x="1234440" y="2834640"/>
              <a:ext cx="4114800" cy="411480"/>
            </a:xfrm>
            <a:prstGeom prst="rect">
              <a:avLst/>
            </a:prstGeom>
            <a:noFill/>
            <a:ln/>
          </p:spPr>
          <p:txBody>
            <a:bodyPr wrap="square" lIns="0" tIns="0" rIns="0" bIns="0" rtlCol="0" anchor="t"/>
            <a:lstStyle/>
            <a:p>
              <a:pPr marL="0" indent="0">
                <a:buNone/>
              </a:pPr>
              <a:r>
                <a:rPr lang="en-US" sz="2400" dirty="0">
                  <a:solidFill>
                    <a:schemeClr val="bg1"/>
                  </a:solidFill>
                  <a:latin typeface="+mj-lt" pitchFamily="34" charset="0"/>
                  <a:ea typeface="+mj-lt" pitchFamily="34" charset="-122"/>
                  <a:cs typeface="+mj-lt" pitchFamily="34" charset="-120"/>
                </a:rPr>
                <a:t>Outcome</a:t>
              </a:r>
              <a:endParaRPr lang="en-US" sz="2400" dirty="0"/>
            </a:p>
          </p:txBody>
        </p:sp>
        <p:sp>
          <p:nvSpPr>
            <p:cNvPr id="17" name="fig|task-value"/>
            <p:cNvSpPr txBox="1"/>
            <p:nvPr/>
          </p:nvSpPr>
          <p:spPr>
            <a:xfrm>
              <a:off x="1234440" y="3264408"/>
              <a:ext cx="4389120" cy="347472"/>
            </a:xfrm>
            <a:prstGeom prst="rect">
              <a:avLst/>
            </a:prstGeom>
            <a:noFill/>
            <a:ln/>
          </p:spPr>
          <p:txBody>
            <a:bodyPr wrap="square" lIns="0" tIns="0" rIns="0" bIns="0" rtlCol="0" anchor="t"/>
            <a:lstStyle/>
            <a:p>
              <a:pPr marL="0" indent="0">
                <a:buNone/>
              </a:pPr>
              <a:r>
                <a:rPr lang="en-US" sz="1800" dirty="0">
                  <a:solidFill>
                    <a:schemeClr val="accent2"/>
                  </a:solidFill>
                </a:rPr>
                <a:t>A user can reset a password</a:t>
              </a:r>
              <a:endParaRPr lang="en-US" sz="1800" dirty="0"/>
            </a:p>
          </p:txBody>
        </p:sp>
        <p:sp>
          <p:nvSpPr>
            <p:cNvPr id="18" name="fig|task-rule"/>
            <p:cNvSpPr/>
            <p:nvPr/>
          </p:nvSpPr>
          <p:spPr>
            <a:xfrm>
              <a:off x="1234440" y="3730752"/>
              <a:ext cx="4297680" cy="0"/>
            </a:xfrm>
            <a:prstGeom prst="line">
              <a:avLst/>
            </a:prstGeom>
            <a:noFill/>
            <a:ln w="12700">
              <a:solidFill>
                <a:schemeClr val="accent2">
                  <a:alpha val="60000"/>
                </a:schemeClr>
              </a:solidFill>
              <a:prstDash val="solid"/>
            </a:ln>
          </p:spPr>
          <p:txBody>
            <a:bodyPr/>
            <a:lstStyle/>
            <a:p>
              <a:endParaRPr lang="en-US"/>
            </a:p>
          </p:txBody>
        </p:sp>
        <p:sp>
          <p:nvSpPr>
            <p:cNvPr id="19" name="fig|task-term"/>
            <p:cNvSpPr txBox="1"/>
            <p:nvPr/>
          </p:nvSpPr>
          <p:spPr>
            <a:xfrm>
              <a:off x="1234440" y="3858768"/>
              <a:ext cx="4114800" cy="411480"/>
            </a:xfrm>
            <a:prstGeom prst="rect">
              <a:avLst/>
            </a:prstGeom>
            <a:noFill/>
            <a:ln/>
          </p:spPr>
          <p:txBody>
            <a:bodyPr wrap="square" lIns="0" tIns="0" rIns="0" bIns="0" rtlCol="0" anchor="t"/>
            <a:lstStyle/>
            <a:p>
              <a:pPr marL="0" indent="0">
                <a:buNone/>
              </a:pPr>
              <a:r>
                <a:rPr lang="en-US" sz="2400" dirty="0">
                  <a:solidFill>
                    <a:schemeClr val="bg1"/>
                  </a:solidFill>
                  <a:latin typeface="+mj-lt" pitchFamily="34" charset="0"/>
                  <a:ea typeface="+mj-lt" pitchFamily="34" charset="-122"/>
                  <a:cs typeface="+mj-lt" pitchFamily="34" charset="-120"/>
                </a:rPr>
                <a:t>Boundaries</a:t>
              </a:r>
              <a:endParaRPr lang="en-US" sz="2400" dirty="0"/>
            </a:p>
          </p:txBody>
        </p:sp>
        <p:sp>
          <p:nvSpPr>
            <p:cNvPr id="20" name="fig|task-value"/>
            <p:cNvSpPr txBox="1"/>
            <p:nvPr/>
          </p:nvSpPr>
          <p:spPr>
            <a:xfrm>
              <a:off x="1234440" y="4288536"/>
              <a:ext cx="4389120" cy="347472"/>
            </a:xfrm>
            <a:prstGeom prst="rect">
              <a:avLst/>
            </a:prstGeom>
            <a:noFill/>
            <a:ln/>
          </p:spPr>
          <p:txBody>
            <a:bodyPr wrap="square" lIns="0" tIns="0" rIns="0" bIns="0" rtlCol="0" anchor="t"/>
            <a:lstStyle/>
            <a:p>
              <a:pPr marL="0" indent="0">
                <a:buNone/>
              </a:pPr>
              <a:r>
                <a:rPr lang="en-US" sz="1800" dirty="0">
                  <a:solidFill>
                    <a:schemeClr val="accent2"/>
                  </a:solidFill>
                </a:rPr>
                <a:t>Email flow only, no single sign-on</a:t>
              </a:r>
              <a:endParaRPr lang="en-US" sz="1800" dirty="0"/>
            </a:p>
          </p:txBody>
        </p:sp>
        <p:sp>
          <p:nvSpPr>
            <p:cNvPr id="21" name="fig|task-rule"/>
            <p:cNvSpPr/>
            <p:nvPr/>
          </p:nvSpPr>
          <p:spPr>
            <a:xfrm>
              <a:off x="1234440" y="4754880"/>
              <a:ext cx="4297680" cy="0"/>
            </a:xfrm>
            <a:prstGeom prst="line">
              <a:avLst/>
            </a:prstGeom>
            <a:noFill/>
            <a:ln w="12700">
              <a:solidFill>
                <a:schemeClr val="accent2">
                  <a:alpha val="60000"/>
                </a:schemeClr>
              </a:solidFill>
              <a:prstDash val="solid"/>
            </a:ln>
          </p:spPr>
          <p:txBody>
            <a:bodyPr/>
            <a:lstStyle/>
            <a:p>
              <a:endParaRPr lang="en-US"/>
            </a:p>
          </p:txBody>
        </p:sp>
        <p:sp>
          <p:nvSpPr>
            <p:cNvPr id="22" name="fig|task-term"/>
            <p:cNvSpPr txBox="1"/>
            <p:nvPr/>
          </p:nvSpPr>
          <p:spPr>
            <a:xfrm>
              <a:off x="1234440" y="4882896"/>
              <a:ext cx="4114800" cy="411480"/>
            </a:xfrm>
            <a:prstGeom prst="rect">
              <a:avLst/>
            </a:prstGeom>
            <a:noFill/>
            <a:ln/>
          </p:spPr>
          <p:txBody>
            <a:bodyPr wrap="square" lIns="0" tIns="0" rIns="0" bIns="0" rtlCol="0" anchor="t"/>
            <a:lstStyle/>
            <a:p>
              <a:pPr marL="0" indent="0">
                <a:buNone/>
              </a:pPr>
              <a:r>
                <a:rPr lang="en-US" sz="2400" dirty="0">
                  <a:solidFill>
                    <a:schemeClr val="bg1"/>
                  </a:solidFill>
                  <a:latin typeface="+mj-lt" pitchFamily="34" charset="0"/>
                  <a:ea typeface="+mj-lt" pitchFamily="34" charset="-122"/>
                  <a:cs typeface="+mj-lt" pitchFamily="34" charset="-120"/>
                </a:rPr>
                <a:t>Check</a:t>
              </a:r>
              <a:endParaRPr lang="en-US" sz="2400" dirty="0"/>
            </a:p>
          </p:txBody>
        </p:sp>
        <p:sp>
          <p:nvSpPr>
            <p:cNvPr id="23" name="fig|task-value"/>
            <p:cNvSpPr txBox="1"/>
            <p:nvPr/>
          </p:nvSpPr>
          <p:spPr>
            <a:xfrm>
              <a:off x="1234440" y="5312664"/>
              <a:ext cx="4389120" cy="347472"/>
            </a:xfrm>
            <a:prstGeom prst="rect">
              <a:avLst/>
            </a:prstGeom>
            <a:noFill/>
            <a:ln/>
          </p:spPr>
          <p:txBody>
            <a:bodyPr wrap="square" lIns="0" tIns="0" rIns="0" bIns="0" rtlCol="0" anchor="t"/>
            <a:lstStyle/>
            <a:p>
              <a:pPr marL="0" indent="0">
                <a:buNone/>
              </a:pPr>
              <a:r>
                <a:rPr lang="en-US" sz="1800" dirty="0">
                  <a:solidFill>
                    <a:schemeClr val="accent2"/>
                  </a:solidFill>
                  <a:latin typeface="Consolas" pitchFamily="34" charset="0"/>
                  <a:ea typeface="Consolas" pitchFamily="34" charset="-122"/>
                  <a:cs typeface="Consolas" pitchFamily="34" charset="-120"/>
                </a:rPr>
                <a:t>Request a reset; the email arrives</a:t>
              </a:r>
              <a:endParaRPr lang="en-US" sz="1800" dirty="0"/>
            </a:p>
          </p:txBody>
        </p:sp>
      </p:grpSp>
      <p:grpSp>
        <p:nvGrpSpPr>
          <p:cNvPr id="32" name="Reveal" descr="If you can't name a check, the unit needs more definition. If it needs several checks, it is probably several units. If one check covers it, the unit is ready to hand off."/>
          <p:cNvGrpSpPr/>
          <p:nvPr/>
        </p:nvGrpSpPr>
        <p:grpSpPr>
          <a:xfrm>
            <a:off x="6492240" y="2606040"/>
            <a:ext cx="5074920" cy="3401568"/>
            <a:chOff x="6492240" y="2606040"/>
            <a:chExt cx="5074920" cy="3401568"/>
          </a:xfrm>
        </p:grpSpPr>
        <p:sp>
          <p:nvSpPr>
            <p:cNvPr id="24" name="reveal|verdict-row"/>
            <p:cNvSpPr/>
            <p:nvPr/>
          </p:nvSpPr>
          <p:spPr>
            <a:xfrm>
              <a:off x="6492240" y="2606040"/>
              <a:ext cx="5074920" cy="1024128"/>
            </a:xfrm>
            <a:prstGeom prst="roundRect">
              <a:avLst>
                <a:gd name="adj" fmla="val 8929"/>
              </a:avLst>
            </a:prstGeom>
            <a:solidFill>
              <a:schemeClr val="bg2"/>
            </a:solidFill>
            <a:ln/>
          </p:spPr>
          <p:txBody>
            <a:bodyPr/>
            <a:lstStyle/>
            <a:p>
              <a:endParaRPr lang="en-US"/>
            </a:p>
          </p:txBody>
        </p:sp>
        <p:sp>
          <p:nvSpPr>
            <p:cNvPr id="25" name="reveal|verdict-text"/>
            <p:cNvSpPr txBox="1"/>
            <p:nvPr/>
          </p:nvSpPr>
          <p:spPr>
            <a:xfrm>
              <a:off x="6766560" y="2606040"/>
              <a:ext cx="4572000" cy="1024128"/>
            </a:xfrm>
            <a:prstGeom prst="rect">
              <a:avLst/>
            </a:prstGeom>
            <a:noFill/>
            <a:ln/>
          </p:spPr>
          <p:txBody>
            <a:bodyPr wrap="square" lIns="0" tIns="0" rIns="0" bIns="0" rtlCol="0" anchor="ctr"/>
            <a:lstStyle/>
            <a:p>
              <a:pPr marL="0" indent="0">
                <a:buNone/>
              </a:pPr>
              <a:r>
                <a:rPr lang="en-US" sz="2200" dirty="0">
                  <a:solidFill>
                    <a:schemeClr val="tx1"/>
                  </a:solidFill>
                </a:rPr>
                <a:t>If you can't name a check, the unit needs more definition.</a:t>
              </a:r>
              <a:endParaRPr lang="en-US" sz="2200" dirty="0"/>
            </a:p>
          </p:txBody>
        </p:sp>
        <p:sp>
          <p:nvSpPr>
            <p:cNvPr id="26" name="reveal|verdict-row"/>
            <p:cNvSpPr/>
            <p:nvPr/>
          </p:nvSpPr>
          <p:spPr>
            <a:xfrm>
              <a:off x="6492240" y="3794760"/>
              <a:ext cx="5074920" cy="1024128"/>
            </a:xfrm>
            <a:prstGeom prst="roundRect">
              <a:avLst>
                <a:gd name="adj" fmla="val 8929"/>
              </a:avLst>
            </a:prstGeom>
            <a:solidFill>
              <a:schemeClr val="bg2"/>
            </a:solidFill>
            <a:ln/>
          </p:spPr>
          <p:txBody>
            <a:bodyPr/>
            <a:lstStyle/>
            <a:p>
              <a:endParaRPr lang="en-US"/>
            </a:p>
          </p:txBody>
        </p:sp>
        <p:sp>
          <p:nvSpPr>
            <p:cNvPr id="27" name="reveal|verdict-text"/>
            <p:cNvSpPr txBox="1"/>
            <p:nvPr/>
          </p:nvSpPr>
          <p:spPr>
            <a:xfrm>
              <a:off x="6766560" y="3794760"/>
              <a:ext cx="4572000" cy="1024128"/>
            </a:xfrm>
            <a:prstGeom prst="rect">
              <a:avLst/>
            </a:prstGeom>
            <a:noFill/>
            <a:ln/>
          </p:spPr>
          <p:txBody>
            <a:bodyPr wrap="square" lIns="0" tIns="0" rIns="0" bIns="0" rtlCol="0" anchor="ctr"/>
            <a:lstStyle/>
            <a:p>
              <a:pPr marL="0" indent="0">
                <a:buNone/>
              </a:pPr>
              <a:r>
                <a:rPr lang="en-US" sz="2200" dirty="0">
                  <a:solidFill>
                    <a:schemeClr val="tx1"/>
                  </a:solidFill>
                </a:rPr>
                <a:t>If it needs several checks, it is probably several units.</a:t>
              </a:r>
              <a:endParaRPr lang="en-US" sz="2200" dirty="0"/>
            </a:p>
          </p:txBody>
        </p:sp>
        <p:sp>
          <p:nvSpPr>
            <p:cNvPr id="28" name="reveal|verdict-row"/>
            <p:cNvSpPr/>
            <p:nvPr/>
          </p:nvSpPr>
          <p:spPr>
            <a:xfrm>
              <a:off x="6492240" y="4983480"/>
              <a:ext cx="5074920" cy="1024128"/>
            </a:xfrm>
            <a:prstGeom prst="roundRect">
              <a:avLst>
                <a:gd name="adj" fmla="val 8929"/>
              </a:avLst>
            </a:prstGeom>
            <a:solidFill>
              <a:schemeClr val="accent3"/>
            </a:solidFill>
            <a:ln/>
          </p:spPr>
          <p:txBody>
            <a:bodyPr/>
            <a:lstStyle/>
            <a:p>
              <a:endParaRPr lang="en-US"/>
            </a:p>
          </p:txBody>
        </p:sp>
        <p:sp>
          <p:nvSpPr>
            <p:cNvPr id="29" name="reveal|verdict-text"/>
            <p:cNvSpPr txBox="1"/>
            <p:nvPr/>
          </p:nvSpPr>
          <p:spPr>
            <a:xfrm>
              <a:off x="6766560" y="4983480"/>
              <a:ext cx="4572000" cy="1024128"/>
            </a:xfrm>
            <a:prstGeom prst="rect">
              <a:avLst/>
            </a:prstGeom>
            <a:noFill/>
            <a:ln/>
          </p:spPr>
          <p:txBody>
            <a:bodyPr wrap="square" lIns="0" tIns="0" rIns="0" bIns="0" rtlCol="0" anchor="ctr"/>
            <a:lstStyle/>
            <a:p>
              <a:pPr marL="0" indent="0">
                <a:buNone/>
              </a:pPr>
              <a:r>
                <a:rPr lang="en-US" sz="2200" dirty="0">
                  <a:solidFill>
                    <a:schemeClr val="bg1"/>
                  </a:solidFill>
                </a:rPr>
                <a:t>If one check covers it, the unit is ready to hand off.</a:t>
              </a:r>
              <a:endParaRPr lang="en-US" sz="2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grpSp>
        <p:nvGrpSpPr>
          <p:cNvPr id="35" name="Progress marker" descr="Progress marker: slide 6 of 9"/>
          <p:cNvGrpSpPr/>
          <p:nvPr/>
        </p:nvGrpSpPr>
        <p:grpSpPr>
          <a:xfrm>
            <a:off x="0" y="0"/>
            <a:ext cx="292608" cy="6858000"/>
            <a:chOff x="0" y="0"/>
            <a:chExt cx="292608" cy="6858000"/>
          </a:xfrm>
        </p:grpSpPr>
        <p:sp>
          <p:nvSpPr>
            <p:cNvPr id="2" name="prog|strip"/>
            <p:cNvSpPr/>
            <p:nvPr/>
          </p:nvSpPr>
          <p:spPr>
            <a:xfrm>
              <a:off x="0" y="0"/>
              <a:ext cx="292608" cy="6858000"/>
            </a:xfrm>
            <a:prstGeom prst="rect">
              <a:avLst/>
            </a:prstGeom>
            <a:solidFill>
              <a:schemeClr val="accent1"/>
            </a:solidFill>
            <a:ln/>
          </p:spPr>
          <p:txBody>
            <a:bodyPr/>
            <a:lstStyle/>
            <a:p>
              <a:endParaRPr lang="en-US"/>
            </a:p>
          </p:txBody>
        </p:sp>
        <p:sp>
          <p:nvSpPr>
            <p:cNvPr id="3" name="prog|dot1"/>
            <p:cNvSpPr/>
            <p:nvPr/>
          </p:nvSpPr>
          <p:spPr>
            <a:xfrm>
              <a:off x="109728" y="969264"/>
              <a:ext cx="73152" cy="73152"/>
            </a:xfrm>
            <a:prstGeom prst="ellipse">
              <a:avLst/>
            </a:prstGeom>
            <a:solidFill>
              <a:schemeClr val="accent2">
                <a:alpha val="65000"/>
              </a:schemeClr>
            </a:solidFill>
            <a:ln/>
          </p:spPr>
          <p:txBody>
            <a:bodyPr/>
            <a:lstStyle/>
            <a:p>
              <a:endParaRPr lang="en-US"/>
            </a:p>
          </p:txBody>
        </p:sp>
        <p:sp>
          <p:nvSpPr>
            <p:cNvPr id="4" name="prog|dot2"/>
            <p:cNvSpPr/>
            <p:nvPr/>
          </p:nvSpPr>
          <p:spPr>
            <a:xfrm>
              <a:off x="109728" y="1575054"/>
              <a:ext cx="73152" cy="73152"/>
            </a:xfrm>
            <a:prstGeom prst="ellipse">
              <a:avLst/>
            </a:prstGeom>
            <a:solidFill>
              <a:schemeClr val="accent2">
                <a:alpha val="65000"/>
              </a:schemeClr>
            </a:solidFill>
            <a:ln/>
          </p:spPr>
          <p:txBody>
            <a:bodyPr/>
            <a:lstStyle/>
            <a:p>
              <a:endParaRPr lang="en-US"/>
            </a:p>
          </p:txBody>
        </p:sp>
        <p:sp>
          <p:nvSpPr>
            <p:cNvPr id="5" name="prog|dot3"/>
            <p:cNvSpPr/>
            <p:nvPr/>
          </p:nvSpPr>
          <p:spPr>
            <a:xfrm>
              <a:off x="109728" y="2180844"/>
              <a:ext cx="73152" cy="73152"/>
            </a:xfrm>
            <a:prstGeom prst="ellipse">
              <a:avLst/>
            </a:prstGeom>
            <a:solidFill>
              <a:schemeClr val="accent2">
                <a:alpha val="65000"/>
              </a:schemeClr>
            </a:solidFill>
            <a:ln/>
          </p:spPr>
          <p:txBody>
            <a:bodyPr/>
            <a:lstStyle/>
            <a:p>
              <a:endParaRPr lang="en-US"/>
            </a:p>
          </p:txBody>
        </p:sp>
        <p:sp>
          <p:nvSpPr>
            <p:cNvPr id="6" name="prog|dot4"/>
            <p:cNvSpPr/>
            <p:nvPr/>
          </p:nvSpPr>
          <p:spPr>
            <a:xfrm>
              <a:off x="109728" y="2786634"/>
              <a:ext cx="73152" cy="73152"/>
            </a:xfrm>
            <a:prstGeom prst="ellipse">
              <a:avLst/>
            </a:prstGeom>
            <a:solidFill>
              <a:schemeClr val="accent2">
                <a:alpha val="65000"/>
              </a:schemeClr>
            </a:solidFill>
            <a:ln/>
          </p:spPr>
          <p:txBody>
            <a:bodyPr/>
            <a:lstStyle/>
            <a:p>
              <a:endParaRPr lang="en-US"/>
            </a:p>
          </p:txBody>
        </p:sp>
        <p:sp>
          <p:nvSpPr>
            <p:cNvPr id="7" name="prog|dot5"/>
            <p:cNvSpPr/>
            <p:nvPr/>
          </p:nvSpPr>
          <p:spPr>
            <a:xfrm>
              <a:off x="109728" y="3392424"/>
              <a:ext cx="73152" cy="73152"/>
            </a:xfrm>
            <a:prstGeom prst="ellipse">
              <a:avLst/>
            </a:prstGeom>
            <a:solidFill>
              <a:schemeClr val="accent2">
                <a:alpha val="65000"/>
              </a:schemeClr>
            </a:solidFill>
            <a:ln/>
          </p:spPr>
          <p:txBody>
            <a:bodyPr/>
            <a:lstStyle/>
            <a:p>
              <a:endParaRPr lang="en-US"/>
            </a:p>
          </p:txBody>
        </p:sp>
        <p:sp>
          <p:nvSpPr>
            <p:cNvPr id="8" name="prog|dot6"/>
            <p:cNvSpPr/>
            <p:nvPr/>
          </p:nvSpPr>
          <p:spPr>
            <a:xfrm>
              <a:off x="64008" y="3952494"/>
              <a:ext cx="164592" cy="164592"/>
            </a:xfrm>
            <a:prstGeom prst="ellipse">
              <a:avLst/>
            </a:prstGeom>
            <a:solidFill>
              <a:schemeClr val="bg1"/>
            </a:solidFill>
            <a:ln/>
          </p:spPr>
          <p:txBody>
            <a:bodyPr/>
            <a:lstStyle/>
            <a:p>
              <a:endParaRPr lang="en-US"/>
            </a:p>
          </p:txBody>
        </p:sp>
        <p:sp>
          <p:nvSpPr>
            <p:cNvPr id="9" name="prog|dot7"/>
            <p:cNvSpPr/>
            <p:nvPr/>
          </p:nvSpPr>
          <p:spPr>
            <a:xfrm>
              <a:off x="109728" y="4604004"/>
              <a:ext cx="73152" cy="73152"/>
            </a:xfrm>
            <a:prstGeom prst="ellipse">
              <a:avLst/>
            </a:prstGeom>
            <a:solidFill>
              <a:schemeClr val="accent2">
                <a:alpha val="65000"/>
              </a:schemeClr>
            </a:solidFill>
            <a:ln/>
          </p:spPr>
          <p:txBody>
            <a:bodyPr/>
            <a:lstStyle/>
            <a:p>
              <a:endParaRPr lang="en-US"/>
            </a:p>
          </p:txBody>
        </p:sp>
        <p:sp>
          <p:nvSpPr>
            <p:cNvPr id="10" name="prog|dot8"/>
            <p:cNvSpPr/>
            <p:nvPr/>
          </p:nvSpPr>
          <p:spPr>
            <a:xfrm>
              <a:off x="109728" y="5209794"/>
              <a:ext cx="73152" cy="73152"/>
            </a:xfrm>
            <a:prstGeom prst="ellipse">
              <a:avLst/>
            </a:prstGeom>
            <a:solidFill>
              <a:schemeClr val="accent2">
                <a:alpha val="65000"/>
              </a:schemeClr>
            </a:solidFill>
            <a:ln/>
          </p:spPr>
          <p:txBody>
            <a:bodyPr/>
            <a:lstStyle/>
            <a:p>
              <a:endParaRPr lang="en-US"/>
            </a:p>
          </p:txBody>
        </p:sp>
        <p:sp>
          <p:nvSpPr>
            <p:cNvPr id="11" name="prog|dot9"/>
            <p:cNvSpPr/>
            <p:nvPr/>
          </p:nvSpPr>
          <p:spPr>
            <a:xfrm>
              <a:off x="109728" y="5815584"/>
              <a:ext cx="73152" cy="73152"/>
            </a:xfrm>
            <a:prstGeom prst="ellipse">
              <a:avLst/>
            </a:prstGeom>
            <a:solidFill>
              <a:schemeClr val="accent2">
                <a:alpha val="65000"/>
              </a:schemeClr>
            </a:solidFill>
            <a:ln/>
          </p:spPr>
          <p:txBody>
            <a:bodyPr/>
            <a:lstStyle/>
            <a:p>
              <a:endParaRPr lang="en-US"/>
            </a:p>
          </p:txBody>
        </p:sp>
      </p:grpSp>
      <p:sp>
        <p:nvSpPr>
          <p:cNvPr id="12" name="Text 0"/>
          <p:cNvSpPr>
            <a:spLocks noGrp="1"/>
          </p:cNvSpPr>
          <p:nvPr>
            <p:ph type="title" idx="100" hasCustomPrompt="1"/>
          </p:nvPr>
        </p:nvSpPr>
        <p:spPr>
          <a:xfrm>
            <a:off x="777240" y="320040"/>
            <a:ext cx="10789920" cy="1051560"/>
          </a:xfrm>
          <a:prstGeom prst="rect">
            <a:avLst/>
          </a:prstGeom>
          <a:noFill/>
          <a:ln/>
        </p:spPr>
        <p:txBody>
          <a:bodyPr wrap="square" lIns="0" tIns="0" rIns="0" bIns="0" rtlCol="0" anchor="ctr"/>
          <a:lstStyle/>
          <a:p>
            <a:pPr marL="0" indent="0" algn="l">
              <a:buNone/>
            </a:pPr>
            <a:r>
              <a:rPr lang="en-US" sz="3200" dirty="0">
                <a:solidFill>
                  <a:schemeClr val="tx1"/>
                </a:solidFill>
              </a:rPr>
              <a:t>The authentication request, split into three units</a:t>
            </a:r>
            <a:endParaRPr lang="en-US" sz="3200" dirty="0"/>
          </a:p>
        </p:txBody>
      </p:sp>
      <p:grpSp>
        <p:nvGrpSpPr>
          <p:cNvPr id="36" name="Figure" descr="The authentication request split into three numbered units, each with a check and a green check mark."/>
          <p:cNvGrpSpPr/>
          <p:nvPr/>
        </p:nvGrpSpPr>
        <p:grpSpPr>
          <a:xfrm>
            <a:off x="777240" y="1508760"/>
            <a:ext cx="10789920" cy="3630168"/>
            <a:chOff x="777240" y="1508760"/>
            <a:chExt cx="10789920" cy="3630168"/>
          </a:xfrm>
        </p:grpSpPr>
        <p:sp>
          <p:nvSpPr>
            <p:cNvPr id="13" name="fig|goal-card"/>
            <p:cNvSpPr/>
            <p:nvPr/>
          </p:nvSpPr>
          <p:spPr>
            <a:xfrm>
              <a:off x="777240" y="1508760"/>
              <a:ext cx="3840480" cy="731520"/>
            </a:xfrm>
            <a:prstGeom prst="roundRect">
              <a:avLst>
                <a:gd name="adj" fmla="val 12500"/>
              </a:avLst>
            </a:prstGeom>
            <a:solidFill>
              <a:schemeClr val="tx1"/>
            </a:solidFill>
            <a:ln/>
          </p:spPr>
          <p:txBody>
            <a:bodyPr/>
            <a:lstStyle/>
            <a:p>
              <a:endParaRPr lang="en-US"/>
            </a:p>
          </p:txBody>
        </p:sp>
        <p:sp>
          <p:nvSpPr>
            <p:cNvPr id="14" name="fig|goal"/>
            <p:cNvSpPr txBox="1"/>
            <p:nvPr/>
          </p:nvSpPr>
          <p:spPr>
            <a:xfrm>
              <a:off x="1051560" y="1508760"/>
              <a:ext cx="3429000" cy="731520"/>
            </a:xfrm>
            <a:prstGeom prst="rect">
              <a:avLst/>
            </a:prstGeom>
            <a:noFill/>
            <a:ln/>
          </p:spPr>
          <p:txBody>
            <a:bodyPr wrap="square" lIns="0" tIns="0" rIns="0" bIns="0" rtlCol="0" anchor="ctr"/>
            <a:lstStyle/>
            <a:p>
              <a:pPr marL="0" indent="0">
                <a:buNone/>
              </a:pPr>
              <a:r>
                <a:rPr lang="en-US" sz="2200" dirty="0">
                  <a:solidFill>
                    <a:schemeClr val="bg1"/>
                  </a:solidFill>
                  <a:latin typeface="Consolas" pitchFamily="34" charset="0"/>
                  <a:ea typeface="Consolas" pitchFamily="34" charset="-122"/>
                  <a:cs typeface="Consolas" pitchFamily="34" charset="-120"/>
                </a:rPr>
                <a:t>"Add authentication."</a:t>
              </a:r>
              <a:endParaRPr lang="en-US" sz="2200" dirty="0"/>
            </a:p>
          </p:txBody>
        </p:sp>
        <p:sp>
          <p:nvSpPr>
            <p:cNvPr id="15" name="fig|spine"/>
            <p:cNvSpPr/>
            <p:nvPr/>
          </p:nvSpPr>
          <p:spPr>
            <a:xfrm>
              <a:off x="1600200" y="2240280"/>
              <a:ext cx="0" cy="2496312"/>
            </a:xfrm>
            <a:prstGeom prst="line">
              <a:avLst/>
            </a:prstGeom>
            <a:noFill/>
            <a:ln w="50800">
              <a:solidFill>
                <a:schemeClr val="accent1"/>
              </a:solidFill>
              <a:prstDash val="solid"/>
            </a:ln>
          </p:spPr>
          <p:txBody>
            <a:bodyPr/>
            <a:lstStyle/>
            <a:p>
              <a:endParaRPr lang="en-US"/>
            </a:p>
          </p:txBody>
        </p:sp>
        <p:sp>
          <p:nvSpPr>
            <p:cNvPr id="16" name="fig|branch"/>
            <p:cNvSpPr/>
            <p:nvPr/>
          </p:nvSpPr>
          <p:spPr>
            <a:xfrm>
              <a:off x="1600200" y="2871216"/>
              <a:ext cx="548640" cy="0"/>
            </a:xfrm>
            <a:prstGeom prst="line">
              <a:avLst/>
            </a:prstGeom>
            <a:noFill/>
            <a:ln w="50800">
              <a:solidFill>
                <a:schemeClr val="accent1"/>
              </a:solidFill>
              <a:prstDash val="solid"/>
            </a:ln>
          </p:spPr>
          <p:txBody>
            <a:bodyPr/>
            <a:lstStyle/>
            <a:p>
              <a:endParaRPr lang="en-US"/>
            </a:p>
          </p:txBody>
        </p:sp>
        <p:sp>
          <p:nvSpPr>
            <p:cNvPr id="17" name="fig|joint"/>
            <p:cNvSpPr/>
            <p:nvPr/>
          </p:nvSpPr>
          <p:spPr>
            <a:xfrm>
              <a:off x="1517904" y="2788920"/>
              <a:ext cx="164592" cy="164592"/>
            </a:xfrm>
            <a:prstGeom prst="ellipse">
              <a:avLst/>
            </a:prstGeom>
            <a:solidFill>
              <a:schemeClr val="accent1"/>
            </a:solidFill>
            <a:ln/>
          </p:spPr>
          <p:txBody>
            <a:bodyPr/>
            <a:lstStyle/>
            <a:p>
              <a:endParaRPr lang="en-US"/>
            </a:p>
          </p:txBody>
        </p:sp>
        <p:sp>
          <p:nvSpPr>
            <p:cNvPr id="18" name="fig|unit"/>
            <p:cNvSpPr/>
            <p:nvPr/>
          </p:nvSpPr>
          <p:spPr>
            <a:xfrm>
              <a:off x="2148840" y="2468880"/>
              <a:ext cx="7818120" cy="804672"/>
            </a:xfrm>
            <a:prstGeom prst="roundRect">
              <a:avLst>
                <a:gd name="adj" fmla="val 11364"/>
              </a:avLst>
            </a:prstGeom>
            <a:solidFill>
              <a:schemeClr val="accent1"/>
            </a:solidFill>
            <a:ln/>
          </p:spPr>
          <p:txBody>
            <a:bodyPr/>
            <a:lstStyle/>
            <a:p>
              <a:endParaRPr lang="en-US"/>
            </a:p>
          </p:txBody>
        </p:sp>
        <p:sp>
          <p:nvSpPr>
            <p:cNvPr id="19" name="fig|unit-behavior"/>
            <p:cNvSpPr txBox="1"/>
            <p:nvPr/>
          </p:nvSpPr>
          <p:spPr>
            <a:xfrm>
              <a:off x="2423160" y="2542032"/>
              <a:ext cx="7269480" cy="384048"/>
            </a:xfrm>
            <a:prstGeom prst="rect">
              <a:avLst/>
            </a:prstGeom>
            <a:noFill/>
            <a:ln/>
          </p:spPr>
          <p:txBody>
            <a:bodyPr wrap="square" lIns="0" tIns="0" rIns="0" bIns="0" rtlCol="0" anchor="t"/>
            <a:lstStyle/>
            <a:p>
              <a:pPr marL="0" indent="0">
                <a:buNone/>
              </a:pPr>
              <a:r>
                <a:rPr lang="en-US" sz="2200" b="1" dirty="0">
                  <a:solidFill>
                    <a:schemeClr val="bg1"/>
                  </a:solidFill>
                </a:rPr>
                <a:t>1. Sessions are issued and stored</a:t>
              </a:r>
              <a:endParaRPr lang="en-US" sz="2200" dirty="0"/>
            </a:p>
          </p:txBody>
        </p:sp>
        <p:sp>
          <p:nvSpPr>
            <p:cNvPr id="20" name="fig|unit-check"/>
            <p:cNvSpPr txBox="1"/>
            <p:nvPr/>
          </p:nvSpPr>
          <p:spPr>
            <a:xfrm>
              <a:off x="2423160" y="2926080"/>
              <a:ext cx="7269480" cy="292608"/>
            </a:xfrm>
            <a:prstGeom prst="rect">
              <a:avLst/>
            </a:prstGeom>
            <a:noFill/>
            <a:ln/>
          </p:spPr>
          <p:txBody>
            <a:bodyPr wrap="square" lIns="0" tIns="0" rIns="0" bIns="0" rtlCol="0" anchor="t"/>
            <a:lstStyle/>
            <a:p>
              <a:pPr marL="0" indent="0">
                <a:buNone/>
              </a:pPr>
              <a:r>
                <a:rPr lang="en-US" sz="1800" dirty="0">
                  <a:solidFill>
                    <a:schemeClr val="accent2"/>
                  </a:solidFill>
                  <a:latin typeface="Consolas" pitchFamily="34" charset="0"/>
                  <a:ea typeface="Consolas" pitchFamily="34" charset="-122"/>
                  <a:cs typeface="Consolas" pitchFamily="34" charset="-120"/>
                </a:rPr>
                <a:t>Check: log in, reload the page, still signed in</a:t>
              </a:r>
              <a:endParaRPr lang="en-US" sz="1800" dirty="0"/>
            </a:p>
          </p:txBody>
        </p:sp>
        <p:sp>
          <p:nvSpPr>
            <p:cNvPr id="21" name="fig|check-chip"/>
            <p:cNvSpPr/>
            <p:nvPr/>
          </p:nvSpPr>
          <p:spPr>
            <a:xfrm>
              <a:off x="10149840" y="2596896"/>
              <a:ext cx="1417320" cy="548640"/>
            </a:xfrm>
            <a:prstGeom prst="roundRect">
              <a:avLst>
                <a:gd name="adj" fmla="val 50000"/>
              </a:avLst>
            </a:prstGeom>
            <a:solidFill>
              <a:schemeClr val="accent3"/>
            </a:solidFill>
            <a:ln/>
          </p:spPr>
          <p:txBody>
            <a:bodyPr wrap="square" lIns="0" tIns="0" rIns="0" bIns="0" rtlCol="0" anchor="ctr"/>
            <a:lstStyle/>
            <a:p>
              <a:pPr marL="0" indent="0" algn="ctr">
                <a:buNone/>
              </a:pPr>
              <a:r>
                <a:rPr lang="en-US" sz="2200" dirty="0">
                  <a:solidFill>
                    <a:schemeClr val="bg1"/>
                  </a:solidFill>
                  <a:latin typeface="+mj-lt" pitchFamily="34" charset="0"/>
                  <a:ea typeface="+mj-lt" pitchFamily="34" charset="-122"/>
                  <a:cs typeface="+mj-lt" pitchFamily="34" charset="-120"/>
                </a:rPr>
                <a:t>✓</a:t>
              </a:r>
              <a:endParaRPr lang="en-US" sz="2200" dirty="0"/>
            </a:p>
          </p:txBody>
        </p:sp>
        <p:sp>
          <p:nvSpPr>
            <p:cNvPr id="22" name="fig|branch"/>
            <p:cNvSpPr/>
            <p:nvPr/>
          </p:nvSpPr>
          <p:spPr>
            <a:xfrm>
              <a:off x="1600200" y="3803904"/>
              <a:ext cx="548640" cy="0"/>
            </a:xfrm>
            <a:prstGeom prst="line">
              <a:avLst/>
            </a:prstGeom>
            <a:noFill/>
            <a:ln w="50800">
              <a:solidFill>
                <a:schemeClr val="accent1"/>
              </a:solidFill>
              <a:prstDash val="solid"/>
            </a:ln>
          </p:spPr>
          <p:txBody>
            <a:bodyPr/>
            <a:lstStyle/>
            <a:p>
              <a:endParaRPr lang="en-US"/>
            </a:p>
          </p:txBody>
        </p:sp>
        <p:sp>
          <p:nvSpPr>
            <p:cNvPr id="23" name="fig|joint"/>
            <p:cNvSpPr/>
            <p:nvPr/>
          </p:nvSpPr>
          <p:spPr>
            <a:xfrm>
              <a:off x="1517904" y="3721608"/>
              <a:ext cx="164592" cy="164592"/>
            </a:xfrm>
            <a:prstGeom prst="ellipse">
              <a:avLst/>
            </a:prstGeom>
            <a:solidFill>
              <a:schemeClr val="accent1"/>
            </a:solidFill>
            <a:ln/>
          </p:spPr>
          <p:txBody>
            <a:bodyPr/>
            <a:lstStyle/>
            <a:p>
              <a:endParaRPr lang="en-US"/>
            </a:p>
          </p:txBody>
        </p:sp>
        <p:sp>
          <p:nvSpPr>
            <p:cNvPr id="24" name="fig|unit"/>
            <p:cNvSpPr/>
            <p:nvPr/>
          </p:nvSpPr>
          <p:spPr>
            <a:xfrm>
              <a:off x="2148840" y="3401568"/>
              <a:ext cx="7818120" cy="804672"/>
            </a:xfrm>
            <a:prstGeom prst="roundRect">
              <a:avLst>
                <a:gd name="adj" fmla="val 11364"/>
              </a:avLst>
            </a:prstGeom>
            <a:solidFill>
              <a:schemeClr val="accent1"/>
            </a:solidFill>
            <a:ln/>
          </p:spPr>
          <p:txBody>
            <a:bodyPr/>
            <a:lstStyle/>
            <a:p>
              <a:endParaRPr lang="en-US"/>
            </a:p>
          </p:txBody>
        </p:sp>
        <p:sp>
          <p:nvSpPr>
            <p:cNvPr id="25" name="fig|unit-behavior"/>
            <p:cNvSpPr txBox="1"/>
            <p:nvPr/>
          </p:nvSpPr>
          <p:spPr>
            <a:xfrm>
              <a:off x="2423160" y="3474720"/>
              <a:ext cx="7269480" cy="384048"/>
            </a:xfrm>
            <a:prstGeom prst="rect">
              <a:avLst/>
            </a:prstGeom>
            <a:noFill/>
            <a:ln/>
          </p:spPr>
          <p:txBody>
            <a:bodyPr wrap="square" lIns="0" tIns="0" rIns="0" bIns="0" rtlCol="0" anchor="t"/>
            <a:lstStyle/>
            <a:p>
              <a:pPr marL="0" indent="0">
                <a:buNone/>
              </a:pPr>
              <a:r>
                <a:rPr lang="en-US" sz="2200" b="1" dirty="0">
                  <a:solidFill>
                    <a:schemeClr val="bg1"/>
                  </a:solidFill>
                </a:rPr>
                <a:t>2. Protected routes reject anonymous requests</a:t>
              </a:r>
              <a:endParaRPr lang="en-US" sz="2200" dirty="0"/>
            </a:p>
          </p:txBody>
        </p:sp>
        <p:sp>
          <p:nvSpPr>
            <p:cNvPr id="26" name="fig|unit-check"/>
            <p:cNvSpPr txBox="1"/>
            <p:nvPr/>
          </p:nvSpPr>
          <p:spPr>
            <a:xfrm>
              <a:off x="2423160" y="3858768"/>
              <a:ext cx="7269480" cy="292608"/>
            </a:xfrm>
            <a:prstGeom prst="rect">
              <a:avLst/>
            </a:prstGeom>
            <a:noFill/>
            <a:ln/>
          </p:spPr>
          <p:txBody>
            <a:bodyPr wrap="square" lIns="0" tIns="0" rIns="0" bIns="0" rtlCol="0" anchor="t"/>
            <a:lstStyle/>
            <a:p>
              <a:pPr marL="0" indent="0">
                <a:buNone/>
              </a:pPr>
              <a:r>
                <a:rPr lang="en-US" sz="1800" dirty="0">
                  <a:solidFill>
                    <a:schemeClr val="accent2"/>
                  </a:solidFill>
                  <a:latin typeface="Consolas" pitchFamily="34" charset="0"/>
                  <a:ea typeface="Consolas" pitchFamily="34" charset="-122"/>
                  <a:cs typeface="Consolas" pitchFamily="34" charset="-120"/>
                </a:rPr>
                <a:t>Check: call one without a session, get a 401</a:t>
              </a:r>
              <a:endParaRPr lang="en-US" sz="1800" dirty="0"/>
            </a:p>
          </p:txBody>
        </p:sp>
        <p:sp>
          <p:nvSpPr>
            <p:cNvPr id="27" name="fig|check-chip"/>
            <p:cNvSpPr/>
            <p:nvPr/>
          </p:nvSpPr>
          <p:spPr>
            <a:xfrm>
              <a:off x="10149840" y="3529584"/>
              <a:ext cx="1417320" cy="548640"/>
            </a:xfrm>
            <a:prstGeom prst="roundRect">
              <a:avLst>
                <a:gd name="adj" fmla="val 50000"/>
              </a:avLst>
            </a:prstGeom>
            <a:solidFill>
              <a:schemeClr val="accent3"/>
            </a:solidFill>
            <a:ln/>
          </p:spPr>
          <p:txBody>
            <a:bodyPr wrap="square" lIns="0" tIns="0" rIns="0" bIns="0" rtlCol="0" anchor="ctr"/>
            <a:lstStyle/>
            <a:p>
              <a:pPr marL="0" indent="0" algn="ctr">
                <a:buNone/>
              </a:pPr>
              <a:r>
                <a:rPr lang="en-US" sz="2200" dirty="0">
                  <a:solidFill>
                    <a:schemeClr val="bg1"/>
                  </a:solidFill>
                  <a:latin typeface="+mj-lt" pitchFamily="34" charset="0"/>
                  <a:ea typeface="+mj-lt" pitchFamily="34" charset="-122"/>
                  <a:cs typeface="+mj-lt" pitchFamily="34" charset="-120"/>
                </a:rPr>
                <a:t>✓</a:t>
              </a:r>
              <a:endParaRPr lang="en-US" sz="2200" dirty="0"/>
            </a:p>
          </p:txBody>
        </p:sp>
        <p:sp>
          <p:nvSpPr>
            <p:cNvPr id="28" name="fig|branch"/>
            <p:cNvSpPr/>
            <p:nvPr/>
          </p:nvSpPr>
          <p:spPr>
            <a:xfrm>
              <a:off x="1600200" y="4736592"/>
              <a:ext cx="548640" cy="0"/>
            </a:xfrm>
            <a:prstGeom prst="line">
              <a:avLst/>
            </a:prstGeom>
            <a:noFill/>
            <a:ln w="50800">
              <a:solidFill>
                <a:schemeClr val="accent1"/>
              </a:solidFill>
              <a:prstDash val="solid"/>
            </a:ln>
          </p:spPr>
          <p:txBody>
            <a:bodyPr/>
            <a:lstStyle/>
            <a:p>
              <a:endParaRPr lang="en-US"/>
            </a:p>
          </p:txBody>
        </p:sp>
        <p:sp>
          <p:nvSpPr>
            <p:cNvPr id="29" name="fig|joint"/>
            <p:cNvSpPr/>
            <p:nvPr/>
          </p:nvSpPr>
          <p:spPr>
            <a:xfrm>
              <a:off x="1517904" y="4654296"/>
              <a:ext cx="164592" cy="164592"/>
            </a:xfrm>
            <a:prstGeom prst="ellipse">
              <a:avLst/>
            </a:prstGeom>
            <a:solidFill>
              <a:schemeClr val="accent1"/>
            </a:solidFill>
            <a:ln/>
          </p:spPr>
          <p:txBody>
            <a:bodyPr/>
            <a:lstStyle/>
            <a:p>
              <a:endParaRPr lang="en-US"/>
            </a:p>
          </p:txBody>
        </p:sp>
        <p:sp>
          <p:nvSpPr>
            <p:cNvPr id="30" name="fig|unit"/>
            <p:cNvSpPr/>
            <p:nvPr/>
          </p:nvSpPr>
          <p:spPr>
            <a:xfrm>
              <a:off x="2148840" y="4334256"/>
              <a:ext cx="7818120" cy="804672"/>
            </a:xfrm>
            <a:prstGeom prst="roundRect">
              <a:avLst>
                <a:gd name="adj" fmla="val 11364"/>
              </a:avLst>
            </a:prstGeom>
            <a:solidFill>
              <a:schemeClr val="accent1"/>
            </a:solidFill>
            <a:ln/>
          </p:spPr>
          <p:txBody>
            <a:bodyPr/>
            <a:lstStyle/>
            <a:p>
              <a:endParaRPr lang="en-US"/>
            </a:p>
          </p:txBody>
        </p:sp>
        <p:sp>
          <p:nvSpPr>
            <p:cNvPr id="31" name="fig|unit-behavior"/>
            <p:cNvSpPr txBox="1"/>
            <p:nvPr/>
          </p:nvSpPr>
          <p:spPr>
            <a:xfrm>
              <a:off x="2423160" y="4407408"/>
              <a:ext cx="7269480" cy="384048"/>
            </a:xfrm>
            <a:prstGeom prst="rect">
              <a:avLst/>
            </a:prstGeom>
            <a:noFill/>
            <a:ln/>
          </p:spPr>
          <p:txBody>
            <a:bodyPr wrap="square" lIns="0" tIns="0" rIns="0" bIns="0" rtlCol="0" anchor="t"/>
            <a:lstStyle/>
            <a:p>
              <a:pPr marL="0" indent="0">
                <a:buNone/>
              </a:pPr>
              <a:r>
                <a:rPr lang="en-US" sz="2200" b="1" dirty="0">
                  <a:solidFill>
                    <a:schemeClr val="bg1"/>
                  </a:solidFill>
                </a:rPr>
                <a:t>3. Password reset email reaches the inbox</a:t>
              </a:r>
              <a:endParaRPr lang="en-US" sz="2200" dirty="0"/>
            </a:p>
          </p:txBody>
        </p:sp>
        <p:sp>
          <p:nvSpPr>
            <p:cNvPr id="32" name="fig|unit-check"/>
            <p:cNvSpPr txBox="1"/>
            <p:nvPr/>
          </p:nvSpPr>
          <p:spPr>
            <a:xfrm>
              <a:off x="2423160" y="4791456"/>
              <a:ext cx="7269480" cy="292608"/>
            </a:xfrm>
            <a:prstGeom prst="rect">
              <a:avLst/>
            </a:prstGeom>
            <a:noFill/>
            <a:ln/>
          </p:spPr>
          <p:txBody>
            <a:bodyPr wrap="square" lIns="0" tIns="0" rIns="0" bIns="0" rtlCol="0" anchor="t"/>
            <a:lstStyle/>
            <a:p>
              <a:pPr marL="0" indent="0">
                <a:buNone/>
              </a:pPr>
              <a:r>
                <a:rPr lang="en-US" sz="1800" dirty="0">
                  <a:solidFill>
                    <a:schemeClr val="accent2"/>
                  </a:solidFill>
                  <a:latin typeface="Consolas" pitchFamily="34" charset="0"/>
                  <a:ea typeface="Consolas" pitchFamily="34" charset="-122"/>
                  <a:cs typeface="Consolas" pitchFamily="34" charset="-120"/>
                </a:rPr>
                <a:t>Check: request a reset, the email arrives</a:t>
              </a:r>
              <a:endParaRPr lang="en-US" sz="1800" dirty="0"/>
            </a:p>
          </p:txBody>
        </p:sp>
        <p:sp>
          <p:nvSpPr>
            <p:cNvPr id="33" name="fig|check-chip"/>
            <p:cNvSpPr/>
            <p:nvPr/>
          </p:nvSpPr>
          <p:spPr>
            <a:xfrm>
              <a:off x="10149840" y="4462272"/>
              <a:ext cx="1417320" cy="548640"/>
            </a:xfrm>
            <a:prstGeom prst="roundRect">
              <a:avLst>
                <a:gd name="adj" fmla="val 50000"/>
              </a:avLst>
            </a:prstGeom>
            <a:solidFill>
              <a:schemeClr val="accent3"/>
            </a:solidFill>
            <a:ln/>
          </p:spPr>
          <p:txBody>
            <a:bodyPr wrap="square" lIns="0" tIns="0" rIns="0" bIns="0" rtlCol="0" anchor="ctr"/>
            <a:lstStyle/>
            <a:p>
              <a:pPr marL="0" indent="0" algn="ctr">
                <a:buNone/>
              </a:pPr>
              <a:r>
                <a:rPr lang="en-US" sz="2200" dirty="0">
                  <a:solidFill>
                    <a:schemeClr val="bg1"/>
                  </a:solidFill>
                  <a:latin typeface="+mj-lt" pitchFamily="34" charset="0"/>
                  <a:ea typeface="+mj-lt" pitchFamily="34" charset="-122"/>
                  <a:cs typeface="+mj-lt" pitchFamily="34" charset="-120"/>
                </a:rPr>
                <a:t>✓</a:t>
              </a:r>
              <a:endParaRPr lang="en-US" sz="2200" dirty="0"/>
            </a:p>
          </p:txBody>
        </p:sp>
      </p:grpSp>
      <p:sp>
        <p:nvSpPr>
          <p:cNvPr id="34" name="Text 32"/>
          <p:cNvSpPr txBox="1"/>
          <p:nvPr/>
        </p:nvSpPr>
        <p:spPr>
          <a:xfrm>
            <a:off x="777240" y="5440680"/>
            <a:ext cx="10789920" cy="731520"/>
          </a:xfrm>
          <a:prstGeom prst="rect">
            <a:avLst/>
          </a:prstGeom>
          <a:noFill/>
          <a:ln/>
        </p:spPr>
        <p:txBody>
          <a:bodyPr wrap="square" lIns="0" tIns="0" rIns="0" bIns="0" rtlCol="0" anchor="t"/>
          <a:lstStyle/>
          <a:p>
            <a:pPr marL="0" indent="0">
              <a:buNone/>
            </a:pPr>
            <a:r>
              <a:rPr lang="en-US" sz="2200" dirty="0">
                <a:solidFill>
                  <a:schemeClr val="tx1"/>
                </a:solidFill>
              </a:rPr>
              <a:t>The agent works through the units one at a time and moves to the next one when its check passes.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grpSp>
        <p:nvGrpSpPr>
          <p:cNvPr id="24" name="Progress marker" descr="Progress marker: slide 7 of 9"/>
          <p:cNvGrpSpPr/>
          <p:nvPr/>
        </p:nvGrpSpPr>
        <p:grpSpPr>
          <a:xfrm>
            <a:off x="0" y="0"/>
            <a:ext cx="292608" cy="6858000"/>
            <a:chOff x="0" y="0"/>
            <a:chExt cx="292608" cy="6858000"/>
          </a:xfrm>
        </p:grpSpPr>
        <p:sp>
          <p:nvSpPr>
            <p:cNvPr id="2" name="prog|strip"/>
            <p:cNvSpPr/>
            <p:nvPr/>
          </p:nvSpPr>
          <p:spPr>
            <a:xfrm>
              <a:off x="0" y="0"/>
              <a:ext cx="292608" cy="6858000"/>
            </a:xfrm>
            <a:prstGeom prst="rect">
              <a:avLst/>
            </a:prstGeom>
            <a:solidFill>
              <a:schemeClr val="accent1"/>
            </a:solidFill>
            <a:ln/>
          </p:spPr>
          <p:txBody>
            <a:bodyPr/>
            <a:lstStyle/>
            <a:p>
              <a:endParaRPr lang="en-US"/>
            </a:p>
          </p:txBody>
        </p:sp>
        <p:sp>
          <p:nvSpPr>
            <p:cNvPr id="3" name="prog|dot1"/>
            <p:cNvSpPr/>
            <p:nvPr/>
          </p:nvSpPr>
          <p:spPr>
            <a:xfrm>
              <a:off x="109728" y="969264"/>
              <a:ext cx="73152" cy="73152"/>
            </a:xfrm>
            <a:prstGeom prst="ellipse">
              <a:avLst/>
            </a:prstGeom>
            <a:solidFill>
              <a:schemeClr val="accent2">
                <a:alpha val="65000"/>
              </a:schemeClr>
            </a:solidFill>
            <a:ln/>
          </p:spPr>
          <p:txBody>
            <a:bodyPr/>
            <a:lstStyle/>
            <a:p>
              <a:endParaRPr lang="en-US"/>
            </a:p>
          </p:txBody>
        </p:sp>
        <p:sp>
          <p:nvSpPr>
            <p:cNvPr id="4" name="prog|dot2"/>
            <p:cNvSpPr/>
            <p:nvPr/>
          </p:nvSpPr>
          <p:spPr>
            <a:xfrm>
              <a:off x="109728" y="1575054"/>
              <a:ext cx="73152" cy="73152"/>
            </a:xfrm>
            <a:prstGeom prst="ellipse">
              <a:avLst/>
            </a:prstGeom>
            <a:solidFill>
              <a:schemeClr val="accent2">
                <a:alpha val="65000"/>
              </a:schemeClr>
            </a:solidFill>
            <a:ln/>
          </p:spPr>
          <p:txBody>
            <a:bodyPr/>
            <a:lstStyle/>
            <a:p>
              <a:endParaRPr lang="en-US"/>
            </a:p>
          </p:txBody>
        </p:sp>
        <p:sp>
          <p:nvSpPr>
            <p:cNvPr id="5" name="prog|dot3"/>
            <p:cNvSpPr/>
            <p:nvPr/>
          </p:nvSpPr>
          <p:spPr>
            <a:xfrm>
              <a:off x="109728" y="2180844"/>
              <a:ext cx="73152" cy="73152"/>
            </a:xfrm>
            <a:prstGeom prst="ellipse">
              <a:avLst/>
            </a:prstGeom>
            <a:solidFill>
              <a:schemeClr val="accent2">
                <a:alpha val="65000"/>
              </a:schemeClr>
            </a:solidFill>
            <a:ln/>
          </p:spPr>
          <p:txBody>
            <a:bodyPr/>
            <a:lstStyle/>
            <a:p>
              <a:endParaRPr lang="en-US"/>
            </a:p>
          </p:txBody>
        </p:sp>
        <p:sp>
          <p:nvSpPr>
            <p:cNvPr id="6" name="prog|dot4"/>
            <p:cNvSpPr/>
            <p:nvPr/>
          </p:nvSpPr>
          <p:spPr>
            <a:xfrm>
              <a:off x="109728" y="2786634"/>
              <a:ext cx="73152" cy="73152"/>
            </a:xfrm>
            <a:prstGeom prst="ellipse">
              <a:avLst/>
            </a:prstGeom>
            <a:solidFill>
              <a:schemeClr val="accent2">
                <a:alpha val="65000"/>
              </a:schemeClr>
            </a:solidFill>
            <a:ln/>
          </p:spPr>
          <p:txBody>
            <a:bodyPr/>
            <a:lstStyle/>
            <a:p>
              <a:endParaRPr lang="en-US"/>
            </a:p>
          </p:txBody>
        </p:sp>
        <p:sp>
          <p:nvSpPr>
            <p:cNvPr id="7" name="prog|dot5"/>
            <p:cNvSpPr/>
            <p:nvPr/>
          </p:nvSpPr>
          <p:spPr>
            <a:xfrm>
              <a:off x="109728" y="3392424"/>
              <a:ext cx="73152" cy="73152"/>
            </a:xfrm>
            <a:prstGeom prst="ellipse">
              <a:avLst/>
            </a:prstGeom>
            <a:solidFill>
              <a:schemeClr val="accent2">
                <a:alpha val="65000"/>
              </a:schemeClr>
            </a:solidFill>
            <a:ln/>
          </p:spPr>
          <p:txBody>
            <a:bodyPr/>
            <a:lstStyle/>
            <a:p>
              <a:endParaRPr lang="en-US"/>
            </a:p>
          </p:txBody>
        </p:sp>
        <p:sp>
          <p:nvSpPr>
            <p:cNvPr id="8" name="prog|dot6"/>
            <p:cNvSpPr/>
            <p:nvPr/>
          </p:nvSpPr>
          <p:spPr>
            <a:xfrm>
              <a:off x="109728" y="3998214"/>
              <a:ext cx="73152" cy="73152"/>
            </a:xfrm>
            <a:prstGeom prst="ellipse">
              <a:avLst/>
            </a:prstGeom>
            <a:solidFill>
              <a:schemeClr val="accent2">
                <a:alpha val="65000"/>
              </a:schemeClr>
            </a:solidFill>
            <a:ln/>
          </p:spPr>
          <p:txBody>
            <a:bodyPr/>
            <a:lstStyle/>
            <a:p>
              <a:endParaRPr lang="en-US"/>
            </a:p>
          </p:txBody>
        </p:sp>
        <p:sp>
          <p:nvSpPr>
            <p:cNvPr id="9" name="prog|dot7"/>
            <p:cNvSpPr/>
            <p:nvPr/>
          </p:nvSpPr>
          <p:spPr>
            <a:xfrm>
              <a:off x="64008" y="4558284"/>
              <a:ext cx="164592" cy="164592"/>
            </a:xfrm>
            <a:prstGeom prst="ellipse">
              <a:avLst/>
            </a:prstGeom>
            <a:solidFill>
              <a:schemeClr val="bg1"/>
            </a:solidFill>
            <a:ln/>
          </p:spPr>
          <p:txBody>
            <a:bodyPr/>
            <a:lstStyle/>
            <a:p>
              <a:endParaRPr lang="en-US"/>
            </a:p>
          </p:txBody>
        </p:sp>
        <p:sp>
          <p:nvSpPr>
            <p:cNvPr id="10" name="prog|dot8"/>
            <p:cNvSpPr/>
            <p:nvPr/>
          </p:nvSpPr>
          <p:spPr>
            <a:xfrm>
              <a:off x="109728" y="5209794"/>
              <a:ext cx="73152" cy="73152"/>
            </a:xfrm>
            <a:prstGeom prst="ellipse">
              <a:avLst/>
            </a:prstGeom>
            <a:solidFill>
              <a:schemeClr val="accent2">
                <a:alpha val="65000"/>
              </a:schemeClr>
            </a:solidFill>
            <a:ln/>
          </p:spPr>
          <p:txBody>
            <a:bodyPr/>
            <a:lstStyle/>
            <a:p>
              <a:endParaRPr lang="en-US"/>
            </a:p>
          </p:txBody>
        </p:sp>
        <p:sp>
          <p:nvSpPr>
            <p:cNvPr id="11" name="prog|dot9"/>
            <p:cNvSpPr/>
            <p:nvPr/>
          </p:nvSpPr>
          <p:spPr>
            <a:xfrm>
              <a:off x="109728" y="5815584"/>
              <a:ext cx="73152" cy="73152"/>
            </a:xfrm>
            <a:prstGeom prst="ellipse">
              <a:avLst/>
            </a:prstGeom>
            <a:solidFill>
              <a:schemeClr val="accent2">
                <a:alpha val="65000"/>
              </a:schemeClr>
            </a:solidFill>
            <a:ln/>
          </p:spPr>
          <p:txBody>
            <a:bodyPr/>
            <a:lstStyle/>
            <a:p>
              <a:endParaRPr lang="en-US"/>
            </a:p>
          </p:txBody>
        </p:sp>
      </p:grpSp>
      <p:sp>
        <p:nvSpPr>
          <p:cNvPr id="12" name="Text 0"/>
          <p:cNvSpPr>
            <a:spLocks noGrp="1"/>
          </p:cNvSpPr>
          <p:nvPr>
            <p:ph type="title" idx="100" hasCustomPrompt="1"/>
          </p:nvPr>
        </p:nvSpPr>
        <p:spPr>
          <a:xfrm>
            <a:off x="777240" y="320040"/>
            <a:ext cx="10789920" cy="1051560"/>
          </a:xfrm>
          <a:prstGeom prst="rect">
            <a:avLst/>
          </a:prstGeom>
          <a:noFill/>
          <a:ln/>
        </p:spPr>
        <p:txBody>
          <a:bodyPr wrap="square" lIns="0" tIns="0" rIns="0" bIns="0" rtlCol="0" anchor="ctr"/>
          <a:lstStyle/>
          <a:p>
            <a:pPr marL="0" indent="0" algn="l">
              <a:buNone/>
            </a:pPr>
            <a:r>
              <a:rPr lang="en-US" sz="3200" dirty="0">
                <a:solidFill>
                  <a:schemeClr val="tx1"/>
                </a:solidFill>
              </a:rPr>
              <a:t>Planning takes a few minutes before the agent starts</a:t>
            </a:r>
            <a:endParaRPr lang="en-US" sz="3200" dirty="0"/>
          </a:p>
        </p:txBody>
      </p:sp>
      <p:grpSp>
        <p:nvGrpSpPr>
          <p:cNvPr id="25" name="Figure" descr="Four planning steps next to an example plan file for the authentication work."/>
          <p:cNvGrpSpPr/>
          <p:nvPr/>
        </p:nvGrpSpPr>
        <p:grpSpPr>
          <a:xfrm>
            <a:off x="777240" y="1600200"/>
            <a:ext cx="10789920" cy="3977640"/>
            <a:chOff x="777240" y="1600200"/>
            <a:chExt cx="10789920" cy="3977640"/>
          </a:xfrm>
        </p:grpSpPr>
        <p:sp>
          <p:nvSpPr>
            <p:cNvPr id="13" name="fig|step-number"/>
            <p:cNvSpPr/>
            <p:nvPr/>
          </p:nvSpPr>
          <p:spPr>
            <a:xfrm>
              <a:off x="777240" y="1737360"/>
              <a:ext cx="566928" cy="566928"/>
            </a:xfrm>
            <a:prstGeom prst="ellipse">
              <a:avLst/>
            </a:prstGeom>
            <a:solidFill>
              <a:schemeClr val="accent1"/>
            </a:solidFill>
            <a:ln/>
          </p:spPr>
          <p:txBody>
            <a:bodyPr wrap="square" lIns="0" tIns="0" rIns="0" bIns="0" rtlCol="0" anchor="ctr"/>
            <a:lstStyle/>
            <a:p>
              <a:pPr marL="0" indent="0" algn="ctr">
                <a:buNone/>
              </a:pPr>
              <a:r>
                <a:rPr lang="en-US" sz="2400" dirty="0">
                  <a:solidFill>
                    <a:schemeClr val="bg1"/>
                  </a:solidFill>
                  <a:latin typeface="+mj-lt" pitchFamily="34" charset="0"/>
                  <a:ea typeface="+mj-lt" pitchFamily="34" charset="-122"/>
                  <a:cs typeface="+mj-lt" pitchFamily="34" charset="-120"/>
                </a:rPr>
                <a:t>1</a:t>
              </a:r>
              <a:endParaRPr lang="en-US" sz="2400" dirty="0"/>
            </a:p>
          </p:txBody>
        </p:sp>
        <p:sp>
          <p:nvSpPr>
            <p:cNvPr id="14" name="fig|step-text"/>
            <p:cNvSpPr txBox="1"/>
            <p:nvPr/>
          </p:nvSpPr>
          <p:spPr>
            <a:xfrm>
              <a:off x="1600200" y="1600200"/>
              <a:ext cx="5212080" cy="841248"/>
            </a:xfrm>
            <a:prstGeom prst="rect">
              <a:avLst/>
            </a:prstGeom>
            <a:noFill/>
            <a:ln/>
          </p:spPr>
          <p:txBody>
            <a:bodyPr wrap="square" lIns="0" tIns="0" rIns="0" bIns="0" rtlCol="0" anchor="ctr"/>
            <a:lstStyle/>
            <a:p>
              <a:pPr marL="0" indent="0">
                <a:buNone/>
              </a:pPr>
              <a:r>
                <a:rPr lang="en-US" sz="2200" dirty="0">
                  <a:solidFill>
                    <a:schemeClr val="tx1"/>
                  </a:solidFill>
                </a:rPr>
                <a:t>Write down the outcome you want.</a:t>
              </a:r>
              <a:endParaRPr lang="en-US" sz="2200" dirty="0"/>
            </a:p>
          </p:txBody>
        </p:sp>
        <p:sp>
          <p:nvSpPr>
            <p:cNvPr id="15" name="fig|step-number"/>
            <p:cNvSpPr/>
            <p:nvPr/>
          </p:nvSpPr>
          <p:spPr>
            <a:xfrm>
              <a:off x="777240" y="2761488"/>
              <a:ext cx="566928" cy="566928"/>
            </a:xfrm>
            <a:prstGeom prst="ellipse">
              <a:avLst/>
            </a:prstGeom>
            <a:solidFill>
              <a:schemeClr val="accent1"/>
            </a:solidFill>
            <a:ln/>
          </p:spPr>
          <p:txBody>
            <a:bodyPr wrap="square" lIns="0" tIns="0" rIns="0" bIns="0" rtlCol="0" anchor="ctr"/>
            <a:lstStyle/>
            <a:p>
              <a:pPr marL="0" indent="0" algn="ctr">
                <a:buNone/>
              </a:pPr>
              <a:r>
                <a:rPr lang="en-US" sz="2400" dirty="0">
                  <a:solidFill>
                    <a:schemeClr val="bg1"/>
                  </a:solidFill>
                  <a:latin typeface="+mj-lt" pitchFamily="34" charset="0"/>
                  <a:ea typeface="+mj-lt" pitchFamily="34" charset="-122"/>
                  <a:cs typeface="+mj-lt" pitchFamily="34" charset="-120"/>
                </a:rPr>
                <a:t>2</a:t>
              </a:r>
              <a:endParaRPr lang="en-US" sz="2400" dirty="0"/>
            </a:p>
          </p:txBody>
        </p:sp>
        <p:sp>
          <p:nvSpPr>
            <p:cNvPr id="16" name="fig|step-text"/>
            <p:cNvSpPr txBox="1"/>
            <p:nvPr/>
          </p:nvSpPr>
          <p:spPr>
            <a:xfrm>
              <a:off x="1600200" y="2624328"/>
              <a:ext cx="5212080" cy="841248"/>
            </a:xfrm>
            <a:prstGeom prst="rect">
              <a:avLst/>
            </a:prstGeom>
            <a:noFill/>
            <a:ln/>
          </p:spPr>
          <p:txBody>
            <a:bodyPr wrap="square" lIns="0" tIns="0" rIns="0" bIns="0" rtlCol="0" anchor="ctr"/>
            <a:lstStyle/>
            <a:p>
              <a:pPr marL="0" indent="0">
                <a:buNone/>
              </a:pPr>
              <a:r>
                <a:rPr lang="en-US" sz="2200" dirty="0">
                  <a:solidFill>
                    <a:schemeClr val="tx1"/>
                  </a:solidFill>
                </a:rPr>
                <a:t>List what is out of scope.</a:t>
              </a:r>
              <a:endParaRPr lang="en-US" sz="2200" dirty="0"/>
            </a:p>
          </p:txBody>
        </p:sp>
        <p:sp>
          <p:nvSpPr>
            <p:cNvPr id="17" name="fig|step-number"/>
            <p:cNvSpPr/>
            <p:nvPr/>
          </p:nvSpPr>
          <p:spPr>
            <a:xfrm>
              <a:off x="777240" y="3785616"/>
              <a:ext cx="566928" cy="566928"/>
            </a:xfrm>
            <a:prstGeom prst="ellipse">
              <a:avLst/>
            </a:prstGeom>
            <a:solidFill>
              <a:schemeClr val="accent1"/>
            </a:solidFill>
            <a:ln/>
          </p:spPr>
          <p:txBody>
            <a:bodyPr wrap="square" lIns="0" tIns="0" rIns="0" bIns="0" rtlCol="0" anchor="ctr"/>
            <a:lstStyle/>
            <a:p>
              <a:pPr marL="0" indent="0" algn="ctr">
                <a:buNone/>
              </a:pPr>
              <a:r>
                <a:rPr lang="en-US" sz="2400" dirty="0">
                  <a:solidFill>
                    <a:schemeClr val="bg1"/>
                  </a:solidFill>
                  <a:latin typeface="+mj-lt" pitchFamily="34" charset="0"/>
                  <a:ea typeface="+mj-lt" pitchFamily="34" charset="-122"/>
                  <a:cs typeface="+mj-lt" pitchFamily="34" charset="-120"/>
                </a:rPr>
                <a:t>3</a:t>
              </a:r>
              <a:endParaRPr lang="en-US" sz="2400" dirty="0"/>
            </a:p>
          </p:txBody>
        </p:sp>
        <p:sp>
          <p:nvSpPr>
            <p:cNvPr id="18" name="fig|step-text"/>
            <p:cNvSpPr txBox="1"/>
            <p:nvPr/>
          </p:nvSpPr>
          <p:spPr>
            <a:xfrm>
              <a:off x="1600200" y="3648456"/>
              <a:ext cx="5212080" cy="841248"/>
            </a:xfrm>
            <a:prstGeom prst="rect">
              <a:avLst/>
            </a:prstGeom>
            <a:noFill/>
            <a:ln/>
          </p:spPr>
          <p:txBody>
            <a:bodyPr wrap="square" lIns="0" tIns="0" rIns="0" bIns="0" rtlCol="0" anchor="ctr"/>
            <a:lstStyle/>
            <a:p>
              <a:pPr marL="0" indent="0">
                <a:buNone/>
              </a:pPr>
              <a:r>
                <a:rPr lang="en-US" sz="2200" dirty="0">
                  <a:solidFill>
                    <a:schemeClr val="tx1"/>
                  </a:solidFill>
                </a:rPr>
                <a:t>Split the work until each piece has one check.</a:t>
              </a:r>
              <a:endParaRPr lang="en-US" sz="2200" dirty="0"/>
            </a:p>
          </p:txBody>
        </p:sp>
        <p:sp>
          <p:nvSpPr>
            <p:cNvPr id="19" name="fig|step-number"/>
            <p:cNvSpPr/>
            <p:nvPr/>
          </p:nvSpPr>
          <p:spPr>
            <a:xfrm>
              <a:off x="777240" y="4809744"/>
              <a:ext cx="566928" cy="566928"/>
            </a:xfrm>
            <a:prstGeom prst="ellipse">
              <a:avLst/>
            </a:prstGeom>
            <a:solidFill>
              <a:schemeClr val="accent1"/>
            </a:solidFill>
            <a:ln/>
          </p:spPr>
          <p:txBody>
            <a:bodyPr wrap="square" lIns="0" tIns="0" rIns="0" bIns="0" rtlCol="0" anchor="ctr"/>
            <a:lstStyle/>
            <a:p>
              <a:pPr marL="0" indent="0" algn="ctr">
                <a:buNone/>
              </a:pPr>
              <a:r>
                <a:rPr lang="en-US" sz="2400" dirty="0">
                  <a:solidFill>
                    <a:schemeClr val="bg1"/>
                  </a:solidFill>
                  <a:latin typeface="+mj-lt" pitchFamily="34" charset="0"/>
                  <a:ea typeface="+mj-lt" pitchFamily="34" charset="-122"/>
                  <a:cs typeface="+mj-lt" pitchFamily="34" charset="-120"/>
                </a:rPr>
                <a:t>4</a:t>
              </a:r>
              <a:endParaRPr lang="en-US" sz="2400" dirty="0"/>
            </a:p>
          </p:txBody>
        </p:sp>
        <p:sp>
          <p:nvSpPr>
            <p:cNvPr id="20" name="fig|step-text"/>
            <p:cNvSpPr txBox="1"/>
            <p:nvPr/>
          </p:nvSpPr>
          <p:spPr>
            <a:xfrm>
              <a:off x="1600200" y="4672584"/>
              <a:ext cx="5212080" cy="841248"/>
            </a:xfrm>
            <a:prstGeom prst="rect">
              <a:avLst/>
            </a:prstGeom>
            <a:noFill/>
            <a:ln/>
          </p:spPr>
          <p:txBody>
            <a:bodyPr wrap="square" lIns="0" tIns="0" rIns="0" bIns="0" rtlCol="0" anchor="ctr"/>
            <a:lstStyle/>
            <a:p>
              <a:pPr marL="0" indent="0">
                <a:buNone/>
              </a:pPr>
              <a:r>
                <a:rPr lang="en-US" sz="2200" dirty="0">
                  <a:solidFill>
                    <a:schemeClr val="tx1"/>
                  </a:solidFill>
                </a:rPr>
                <a:t>Save the plan in a file the agent reads and updates as it works.</a:t>
              </a:r>
              <a:endParaRPr lang="en-US" sz="2200" dirty="0"/>
            </a:p>
          </p:txBody>
        </p:sp>
        <p:sp>
          <p:nvSpPr>
            <p:cNvPr id="21" name="fig|plan-file"/>
            <p:cNvSpPr/>
            <p:nvPr/>
          </p:nvSpPr>
          <p:spPr>
            <a:xfrm>
              <a:off x="7223760" y="1600200"/>
              <a:ext cx="4343400" cy="3977640"/>
            </a:xfrm>
            <a:prstGeom prst="roundRect">
              <a:avLst>
                <a:gd name="adj" fmla="val 2759"/>
              </a:avLst>
            </a:prstGeom>
            <a:solidFill>
              <a:schemeClr val="tx1"/>
            </a:solidFill>
            <a:ln/>
          </p:spPr>
          <p:txBody>
            <a:bodyPr/>
            <a:lstStyle/>
            <a:p>
              <a:endParaRPr lang="en-US"/>
            </a:p>
          </p:txBody>
        </p:sp>
        <p:sp>
          <p:nvSpPr>
            <p:cNvPr id="22" name="fig|plan-text"/>
            <p:cNvSpPr txBox="1"/>
            <p:nvPr/>
          </p:nvSpPr>
          <p:spPr>
            <a:xfrm>
              <a:off x="7543800" y="1874520"/>
              <a:ext cx="3794760" cy="3520440"/>
            </a:xfrm>
            <a:prstGeom prst="rect">
              <a:avLst/>
            </a:prstGeom>
            <a:noFill/>
            <a:ln/>
          </p:spPr>
          <p:txBody>
            <a:bodyPr wrap="square" lIns="0" tIns="0" rIns="0" bIns="0" rtlCol="0" anchor="t"/>
            <a:lstStyle/>
            <a:p>
              <a:pPr marL="0" indent="0">
                <a:lnSpc>
                  <a:spcPct val="110000"/>
                </a:lnSpc>
                <a:buNone/>
              </a:pPr>
              <a:r>
                <a:rPr lang="en-US" sz="1600" b="1" dirty="0">
                  <a:solidFill>
                    <a:schemeClr val="accent2"/>
                  </a:solidFill>
                  <a:latin typeface="Consolas" pitchFamily="34" charset="0"/>
                  <a:ea typeface="Consolas" pitchFamily="34" charset="-122"/>
                  <a:cs typeface="Consolas" pitchFamily="34" charset="-120"/>
                </a:rPr>
                <a:t>plan.md</a:t>
              </a:r>
              <a:endParaRPr lang="en-US" sz="1600" dirty="0"/>
            </a:p>
            <a:p>
              <a:pPr marL="0" indent="0">
                <a:lnSpc>
                  <a:spcPct val="110000"/>
                </a:lnSpc>
                <a:buNone/>
              </a:pPr>
              <a:r>
                <a:rPr lang="en-US" sz="1600" dirty="0">
                  <a:solidFill>
                    <a:schemeClr val="bg1"/>
                  </a:solidFill>
                  <a:latin typeface="Consolas" pitchFamily="34" charset="0"/>
                  <a:ea typeface="Consolas" pitchFamily="34" charset="-122"/>
                  <a:cs typeface="Consolas" pitchFamily="34" charset="-120"/>
                </a:rPr>
                <a:t> </a:t>
              </a:r>
              <a:endParaRPr lang="en-US" sz="1600" dirty="0"/>
            </a:p>
            <a:p>
              <a:pPr marL="0" indent="0">
                <a:lnSpc>
                  <a:spcPct val="110000"/>
                </a:lnSpc>
                <a:buNone/>
              </a:pPr>
              <a:r>
                <a:rPr lang="en-US" sz="1600" dirty="0">
                  <a:solidFill>
                    <a:schemeClr val="accent2"/>
                  </a:solidFill>
                  <a:latin typeface="Consolas" pitchFamily="34" charset="0"/>
                  <a:ea typeface="Consolas" pitchFamily="34" charset="-122"/>
                  <a:cs typeface="Consolas" pitchFamily="34" charset="-120"/>
                </a:rPr>
                <a:t>## Outcome</a:t>
              </a:r>
              <a:endParaRPr lang="en-US" sz="1600" dirty="0"/>
            </a:p>
            <a:p>
              <a:pPr marL="0" indent="0">
                <a:lnSpc>
                  <a:spcPct val="110000"/>
                </a:lnSpc>
                <a:buNone/>
              </a:pPr>
              <a:r>
                <a:rPr lang="en-US" sz="1600" dirty="0">
                  <a:solidFill>
                    <a:schemeClr val="bg1"/>
                  </a:solidFill>
                  <a:latin typeface="Consolas" pitchFamily="34" charset="0"/>
                  <a:ea typeface="Consolas" pitchFamily="34" charset="-122"/>
                  <a:cs typeface="Consolas" pitchFamily="34" charset="-120"/>
                </a:rPr>
                <a:t>Users can sign in and reset</a:t>
              </a:r>
              <a:endParaRPr lang="en-US" sz="1600" dirty="0"/>
            </a:p>
            <a:p>
              <a:pPr marL="0" indent="0">
                <a:lnSpc>
                  <a:spcPct val="110000"/>
                </a:lnSpc>
                <a:buNone/>
              </a:pPr>
              <a:r>
                <a:rPr lang="en-US" sz="1600" dirty="0">
                  <a:solidFill>
                    <a:schemeClr val="bg1"/>
                  </a:solidFill>
                  <a:latin typeface="Consolas" pitchFamily="34" charset="0"/>
                  <a:ea typeface="Consolas" pitchFamily="34" charset="-122"/>
                  <a:cs typeface="Consolas" pitchFamily="34" charset="-120"/>
                </a:rPr>
                <a:t>a password by email.</a:t>
              </a:r>
              <a:endParaRPr lang="en-US" sz="1600" dirty="0"/>
            </a:p>
            <a:p>
              <a:pPr marL="0" indent="0">
                <a:lnSpc>
                  <a:spcPct val="110000"/>
                </a:lnSpc>
                <a:buNone/>
              </a:pPr>
              <a:r>
                <a:rPr lang="en-US" sz="1600" dirty="0">
                  <a:solidFill>
                    <a:schemeClr val="accent2"/>
                  </a:solidFill>
                  <a:latin typeface="Consolas" pitchFamily="34" charset="0"/>
                  <a:ea typeface="Consolas" pitchFamily="34" charset="-122"/>
                  <a:cs typeface="Consolas" pitchFamily="34" charset="-120"/>
                </a:rPr>
                <a:t>## Out of scope</a:t>
              </a:r>
              <a:endParaRPr lang="en-US" sz="1600" dirty="0"/>
            </a:p>
            <a:p>
              <a:pPr marL="0" indent="0">
                <a:lnSpc>
                  <a:spcPct val="110000"/>
                </a:lnSpc>
                <a:buNone/>
              </a:pPr>
              <a:r>
                <a:rPr lang="en-US" sz="1600" dirty="0">
                  <a:solidFill>
                    <a:schemeClr val="bg1"/>
                  </a:solidFill>
                  <a:latin typeface="Consolas" pitchFamily="34" charset="0"/>
                  <a:ea typeface="Consolas" pitchFamily="34" charset="-122"/>
                  <a:cs typeface="Consolas" pitchFamily="34" charset="-120"/>
                </a:rPr>
                <a:t>Single sign-on, admin roles</a:t>
              </a:r>
              <a:endParaRPr lang="en-US" sz="1600" dirty="0"/>
            </a:p>
            <a:p>
              <a:pPr marL="0" indent="0">
                <a:lnSpc>
                  <a:spcPct val="110000"/>
                </a:lnSpc>
                <a:buNone/>
              </a:pPr>
              <a:r>
                <a:rPr lang="en-US" sz="1600" dirty="0">
                  <a:solidFill>
                    <a:schemeClr val="accent2"/>
                  </a:solidFill>
                  <a:latin typeface="Consolas" pitchFamily="34" charset="0"/>
                  <a:ea typeface="Consolas" pitchFamily="34" charset="-122"/>
                  <a:cs typeface="Consolas" pitchFamily="34" charset="-120"/>
                </a:rPr>
                <a:t>## Units</a:t>
              </a:r>
              <a:endParaRPr lang="en-US" sz="1600" dirty="0"/>
            </a:p>
            <a:p>
              <a:pPr marL="0" indent="0">
                <a:lnSpc>
                  <a:spcPct val="110000"/>
                </a:lnSpc>
                <a:buNone/>
              </a:pPr>
              <a:r>
                <a:rPr lang="en-US" sz="1600" dirty="0">
                  <a:solidFill>
                    <a:schemeClr val="bg1"/>
                  </a:solidFill>
                  <a:latin typeface="Consolas" pitchFamily="34" charset="0"/>
                  <a:ea typeface="Consolas" pitchFamily="34" charset="-122"/>
                  <a:cs typeface="Consolas" pitchFamily="34" charset="-120"/>
                </a:rPr>
                <a:t>[ ] 1. Sessions issued and stored</a:t>
              </a:r>
              <a:endParaRPr lang="en-US" sz="1600" dirty="0"/>
            </a:p>
            <a:p>
              <a:pPr marL="0" indent="0">
                <a:lnSpc>
                  <a:spcPct val="110000"/>
                </a:lnSpc>
                <a:buNone/>
              </a:pPr>
              <a:r>
                <a:rPr lang="en-US" sz="1600" dirty="0">
                  <a:solidFill>
                    <a:schemeClr val="bg1"/>
                  </a:solidFill>
                  <a:latin typeface="Consolas" pitchFamily="34" charset="0"/>
                  <a:ea typeface="Consolas" pitchFamily="34" charset="-122"/>
                  <a:cs typeface="Consolas" pitchFamily="34" charset="-120"/>
                </a:rPr>
                <a:t>[ ] 2. Routes reject anonymous</a:t>
              </a:r>
              <a:endParaRPr lang="en-US" sz="1600" dirty="0"/>
            </a:p>
            <a:p>
              <a:pPr marL="0" indent="0">
                <a:lnSpc>
                  <a:spcPct val="110000"/>
                </a:lnSpc>
                <a:buNone/>
              </a:pPr>
              <a:r>
                <a:rPr lang="en-US" sz="1600" dirty="0">
                  <a:solidFill>
                    <a:schemeClr val="bg1"/>
                  </a:solidFill>
                  <a:latin typeface="Consolas" pitchFamily="34" charset="0"/>
                  <a:ea typeface="Consolas" pitchFamily="34" charset="-122"/>
                  <a:cs typeface="Consolas" pitchFamily="34" charset="-120"/>
                </a:rPr>
                <a:t>[ ] 3. Reset email arrives</a:t>
              </a:r>
              <a:endParaRPr lang="en-US" sz="1600" dirty="0"/>
            </a:p>
          </p:txBody>
        </p:sp>
      </p:grpSp>
      <p:sp>
        <p:nvSpPr>
          <p:cNvPr id="23" name="Text 21"/>
          <p:cNvSpPr txBox="1"/>
          <p:nvPr/>
        </p:nvSpPr>
        <p:spPr>
          <a:xfrm>
            <a:off x="777240" y="5852160"/>
            <a:ext cx="10789920" cy="457200"/>
          </a:xfrm>
          <a:prstGeom prst="rect">
            <a:avLst/>
          </a:prstGeom>
          <a:noFill/>
          <a:ln/>
        </p:spPr>
        <p:txBody>
          <a:bodyPr wrap="square" lIns="0" tIns="0" rIns="0" bIns="0" rtlCol="0" anchor="t"/>
          <a:lstStyle/>
          <a:p>
            <a:pPr marL="0" indent="0">
              <a:buNone/>
            </a:pPr>
            <a:r>
              <a:rPr lang="en-US" sz="2200" dirty="0">
                <a:solidFill>
                  <a:schemeClr val="accent1"/>
                </a:solidFill>
              </a:rPr>
              <a:t>The file also carries those decisions into the next session.</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grpSp>
        <p:nvGrpSpPr>
          <p:cNvPr id="33" name="Progress marker" descr="Progress marker: slide 8 of 9"/>
          <p:cNvGrpSpPr/>
          <p:nvPr/>
        </p:nvGrpSpPr>
        <p:grpSpPr>
          <a:xfrm>
            <a:off x="0" y="0"/>
            <a:ext cx="292608" cy="6858000"/>
            <a:chOff x="0" y="0"/>
            <a:chExt cx="292608" cy="6858000"/>
          </a:xfrm>
        </p:grpSpPr>
        <p:sp>
          <p:nvSpPr>
            <p:cNvPr id="2" name="prog|strip"/>
            <p:cNvSpPr/>
            <p:nvPr/>
          </p:nvSpPr>
          <p:spPr>
            <a:xfrm>
              <a:off x="0" y="0"/>
              <a:ext cx="292608" cy="6858000"/>
            </a:xfrm>
            <a:prstGeom prst="rect">
              <a:avLst/>
            </a:prstGeom>
            <a:solidFill>
              <a:schemeClr val="accent6"/>
            </a:solidFill>
            <a:ln/>
          </p:spPr>
          <p:txBody>
            <a:bodyPr/>
            <a:lstStyle/>
            <a:p>
              <a:endParaRPr lang="en-US"/>
            </a:p>
          </p:txBody>
        </p:sp>
        <p:sp>
          <p:nvSpPr>
            <p:cNvPr id="3" name="prog|dot1"/>
            <p:cNvSpPr/>
            <p:nvPr/>
          </p:nvSpPr>
          <p:spPr>
            <a:xfrm>
              <a:off x="109728" y="969264"/>
              <a:ext cx="73152" cy="73152"/>
            </a:xfrm>
            <a:prstGeom prst="ellipse">
              <a:avLst/>
            </a:prstGeom>
            <a:solidFill>
              <a:schemeClr val="accent2">
                <a:alpha val="65000"/>
              </a:schemeClr>
            </a:solidFill>
            <a:ln/>
          </p:spPr>
          <p:txBody>
            <a:bodyPr/>
            <a:lstStyle/>
            <a:p>
              <a:endParaRPr lang="en-US"/>
            </a:p>
          </p:txBody>
        </p:sp>
        <p:sp>
          <p:nvSpPr>
            <p:cNvPr id="4" name="prog|dot2"/>
            <p:cNvSpPr/>
            <p:nvPr/>
          </p:nvSpPr>
          <p:spPr>
            <a:xfrm>
              <a:off x="109728" y="1575054"/>
              <a:ext cx="73152" cy="73152"/>
            </a:xfrm>
            <a:prstGeom prst="ellipse">
              <a:avLst/>
            </a:prstGeom>
            <a:solidFill>
              <a:schemeClr val="accent2">
                <a:alpha val="65000"/>
              </a:schemeClr>
            </a:solidFill>
            <a:ln/>
          </p:spPr>
          <p:txBody>
            <a:bodyPr/>
            <a:lstStyle/>
            <a:p>
              <a:endParaRPr lang="en-US"/>
            </a:p>
          </p:txBody>
        </p:sp>
        <p:sp>
          <p:nvSpPr>
            <p:cNvPr id="5" name="prog|dot3"/>
            <p:cNvSpPr/>
            <p:nvPr/>
          </p:nvSpPr>
          <p:spPr>
            <a:xfrm>
              <a:off x="109728" y="2180844"/>
              <a:ext cx="73152" cy="73152"/>
            </a:xfrm>
            <a:prstGeom prst="ellipse">
              <a:avLst/>
            </a:prstGeom>
            <a:solidFill>
              <a:schemeClr val="accent2">
                <a:alpha val="65000"/>
              </a:schemeClr>
            </a:solidFill>
            <a:ln/>
          </p:spPr>
          <p:txBody>
            <a:bodyPr/>
            <a:lstStyle/>
            <a:p>
              <a:endParaRPr lang="en-US"/>
            </a:p>
          </p:txBody>
        </p:sp>
        <p:sp>
          <p:nvSpPr>
            <p:cNvPr id="6" name="prog|dot4"/>
            <p:cNvSpPr/>
            <p:nvPr/>
          </p:nvSpPr>
          <p:spPr>
            <a:xfrm>
              <a:off x="109728" y="2786634"/>
              <a:ext cx="73152" cy="73152"/>
            </a:xfrm>
            <a:prstGeom prst="ellipse">
              <a:avLst/>
            </a:prstGeom>
            <a:solidFill>
              <a:schemeClr val="accent2">
                <a:alpha val="65000"/>
              </a:schemeClr>
            </a:solidFill>
            <a:ln/>
          </p:spPr>
          <p:txBody>
            <a:bodyPr/>
            <a:lstStyle/>
            <a:p>
              <a:endParaRPr lang="en-US"/>
            </a:p>
          </p:txBody>
        </p:sp>
        <p:sp>
          <p:nvSpPr>
            <p:cNvPr id="7" name="prog|dot5"/>
            <p:cNvSpPr/>
            <p:nvPr/>
          </p:nvSpPr>
          <p:spPr>
            <a:xfrm>
              <a:off x="109728" y="3392424"/>
              <a:ext cx="73152" cy="73152"/>
            </a:xfrm>
            <a:prstGeom prst="ellipse">
              <a:avLst/>
            </a:prstGeom>
            <a:solidFill>
              <a:schemeClr val="accent2">
                <a:alpha val="65000"/>
              </a:schemeClr>
            </a:solidFill>
            <a:ln/>
          </p:spPr>
          <p:txBody>
            <a:bodyPr/>
            <a:lstStyle/>
            <a:p>
              <a:endParaRPr lang="en-US"/>
            </a:p>
          </p:txBody>
        </p:sp>
        <p:sp>
          <p:nvSpPr>
            <p:cNvPr id="8" name="prog|dot6"/>
            <p:cNvSpPr/>
            <p:nvPr/>
          </p:nvSpPr>
          <p:spPr>
            <a:xfrm>
              <a:off x="109728" y="3998214"/>
              <a:ext cx="73152" cy="73152"/>
            </a:xfrm>
            <a:prstGeom prst="ellipse">
              <a:avLst/>
            </a:prstGeom>
            <a:solidFill>
              <a:schemeClr val="accent2">
                <a:alpha val="65000"/>
              </a:schemeClr>
            </a:solidFill>
            <a:ln/>
          </p:spPr>
          <p:txBody>
            <a:bodyPr/>
            <a:lstStyle/>
            <a:p>
              <a:endParaRPr lang="en-US"/>
            </a:p>
          </p:txBody>
        </p:sp>
        <p:sp>
          <p:nvSpPr>
            <p:cNvPr id="9" name="prog|dot7"/>
            <p:cNvSpPr/>
            <p:nvPr/>
          </p:nvSpPr>
          <p:spPr>
            <a:xfrm>
              <a:off x="109728" y="4604004"/>
              <a:ext cx="73152" cy="73152"/>
            </a:xfrm>
            <a:prstGeom prst="ellipse">
              <a:avLst/>
            </a:prstGeom>
            <a:solidFill>
              <a:schemeClr val="accent2">
                <a:alpha val="65000"/>
              </a:schemeClr>
            </a:solidFill>
            <a:ln/>
          </p:spPr>
          <p:txBody>
            <a:bodyPr/>
            <a:lstStyle/>
            <a:p>
              <a:endParaRPr lang="en-US"/>
            </a:p>
          </p:txBody>
        </p:sp>
        <p:sp>
          <p:nvSpPr>
            <p:cNvPr id="10" name="prog|dot8"/>
            <p:cNvSpPr/>
            <p:nvPr/>
          </p:nvSpPr>
          <p:spPr>
            <a:xfrm>
              <a:off x="64008" y="5164074"/>
              <a:ext cx="164592" cy="164592"/>
            </a:xfrm>
            <a:prstGeom prst="ellipse">
              <a:avLst/>
            </a:prstGeom>
            <a:solidFill>
              <a:schemeClr val="bg1"/>
            </a:solidFill>
            <a:ln/>
          </p:spPr>
          <p:txBody>
            <a:bodyPr/>
            <a:lstStyle/>
            <a:p>
              <a:endParaRPr lang="en-US"/>
            </a:p>
          </p:txBody>
        </p:sp>
        <p:sp>
          <p:nvSpPr>
            <p:cNvPr id="11" name="prog|dot9"/>
            <p:cNvSpPr/>
            <p:nvPr/>
          </p:nvSpPr>
          <p:spPr>
            <a:xfrm>
              <a:off x="109728" y="5815584"/>
              <a:ext cx="73152" cy="73152"/>
            </a:xfrm>
            <a:prstGeom prst="ellipse">
              <a:avLst/>
            </a:prstGeom>
            <a:solidFill>
              <a:schemeClr val="accent2">
                <a:alpha val="65000"/>
              </a:schemeClr>
            </a:solidFill>
            <a:ln/>
          </p:spPr>
          <p:txBody>
            <a:bodyPr/>
            <a:lstStyle/>
            <a:p>
              <a:endParaRPr lang="en-US"/>
            </a:p>
          </p:txBody>
        </p:sp>
      </p:grpSp>
      <p:sp>
        <p:nvSpPr>
          <p:cNvPr id="12" name="Text 0"/>
          <p:cNvSpPr>
            <a:spLocks noGrp="1"/>
          </p:cNvSpPr>
          <p:nvPr>
            <p:ph type="title" idx="100" hasCustomPrompt="1"/>
          </p:nvPr>
        </p:nvSpPr>
        <p:spPr>
          <a:xfrm>
            <a:off x="777240" y="320040"/>
            <a:ext cx="10789920" cy="1051560"/>
          </a:xfrm>
          <a:prstGeom prst="rect">
            <a:avLst/>
          </a:prstGeom>
          <a:noFill/>
          <a:ln/>
        </p:spPr>
        <p:txBody>
          <a:bodyPr wrap="square" lIns="0" tIns="0" rIns="0" bIns="0" rtlCol="0" anchor="ctr"/>
          <a:lstStyle/>
          <a:p>
            <a:pPr marL="0" indent="0" algn="l">
              <a:buNone/>
            </a:pPr>
            <a:r>
              <a:rPr lang="en-US" sz="3200" dirty="0">
                <a:solidFill>
                  <a:schemeClr val="bg1"/>
                </a:solidFill>
              </a:rPr>
              <a:t>Plan mode drafts a plan for you to review</a:t>
            </a:r>
            <a:endParaRPr lang="en-US" sz="3200" dirty="0"/>
          </a:p>
        </p:txBody>
      </p:sp>
      <p:grpSp>
        <p:nvGrpSpPr>
          <p:cNvPr id="34" name="Figure" descr="A vague request goes into plan mode and comes out as a plan that looks complete but can still miss the intent."/>
          <p:cNvGrpSpPr/>
          <p:nvPr/>
        </p:nvGrpSpPr>
        <p:grpSpPr>
          <a:xfrm>
            <a:off x="777240" y="1554480"/>
            <a:ext cx="10799064" cy="2148840"/>
            <a:chOff x="777240" y="1554480"/>
            <a:chExt cx="10799064" cy="2148840"/>
          </a:xfrm>
        </p:grpSpPr>
        <p:sp>
          <p:nvSpPr>
            <p:cNvPr id="13" name="fig|vague-goal"/>
            <p:cNvSpPr/>
            <p:nvPr/>
          </p:nvSpPr>
          <p:spPr>
            <a:xfrm>
              <a:off x="777240" y="1554480"/>
              <a:ext cx="3154680" cy="2148840"/>
            </a:xfrm>
            <a:prstGeom prst="roundRect">
              <a:avLst>
                <a:gd name="adj" fmla="val 5106"/>
              </a:avLst>
            </a:prstGeom>
            <a:solidFill>
              <a:schemeClr val="bg1"/>
            </a:solidFill>
            <a:ln/>
          </p:spPr>
          <p:txBody>
            <a:bodyPr/>
            <a:lstStyle/>
            <a:p>
              <a:endParaRPr lang="en-US"/>
            </a:p>
          </p:txBody>
        </p:sp>
        <p:sp>
          <p:nvSpPr>
            <p:cNvPr id="14" name="fig|vague-head"/>
            <p:cNvSpPr txBox="1"/>
            <p:nvPr/>
          </p:nvSpPr>
          <p:spPr>
            <a:xfrm>
              <a:off x="1051560" y="1783080"/>
              <a:ext cx="2606040" cy="457200"/>
            </a:xfrm>
            <a:prstGeom prst="rect">
              <a:avLst/>
            </a:prstGeom>
            <a:noFill/>
            <a:ln/>
          </p:spPr>
          <p:txBody>
            <a:bodyPr wrap="square" lIns="0" tIns="0" rIns="0" bIns="0" rtlCol="0" anchor="t"/>
            <a:lstStyle/>
            <a:p>
              <a:pPr marL="0" indent="0">
                <a:buNone/>
              </a:pPr>
              <a:r>
                <a:rPr lang="en-US" sz="2400" dirty="0">
                  <a:solidFill>
                    <a:schemeClr val="tx1"/>
                  </a:solidFill>
                  <a:latin typeface="+mj-lt" pitchFamily="34" charset="0"/>
                  <a:ea typeface="+mj-lt" pitchFamily="34" charset="-122"/>
                  <a:cs typeface="+mj-lt" pitchFamily="34" charset="-120"/>
                </a:rPr>
                <a:t>A vague request</a:t>
              </a:r>
              <a:endParaRPr lang="en-US" sz="2400" dirty="0"/>
            </a:p>
          </p:txBody>
        </p:sp>
        <p:sp>
          <p:nvSpPr>
            <p:cNvPr id="15" name="fig|vague-line"/>
            <p:cNvSpPr/>
            <p:nvPr/>
          </p:nvSpPr>
          <p:spPr>
            <a:xfrm>
              <a:off x="1051560" y="2423160"/>
              <a:ext cx="2377440" cy="137160"/>
            </a:xfrm>
            <a:prstGeom prst="roundRect">
              <a:avLst>
                <a:gd name="adj" fmla="val 46667"/>
              </a:avLst>
            </a:prstGeom>
            <a:solidFill>
              <a:schemeClr val="tx1">
                <a:alpha val="25000"/>
              </a:schemeClr>
            </a:solidFill>
            <a:ln/>
          </p:spPr>
          <p:txBody>
            <a:bodyPr/>
            <a:lstStyle/>
            <a:p>
              <a:endParaRPr lang="en-US"/>
            </a:p>
          </p:txBody>
        </p:sp>
        <p:sp>
          <p:nvSpPr>
            <p:cNvPr id="16" name="fig|vague-line"/>
            <p:cNvSpPr/>
            <p:nvPr/>
          </p:nvSpPr>
          <p:spPr>
            <a:xfrm>
              <a:off x="1051560" y="2715768"/>
              <a:ext cx="1920240" cy="137160"/>
            </a:xfrm>
            <a:prstGeom prst="roundRect">
              <a:avLst>
                <a:gd name="adj" fmla="val 46667"/>
              </a:avLst>
            </a:prstGeom>
            <a:solidFill>
              <a:schemeClr val="tx1">
                <a:alpha val="25000"/>
              </a:schemeClr>
            </a:solidFill>
            <a:ln/>
          </p:spPr>
          <p:txBody>
            <a:bodyPr/>
            <a:lstStyle/>
            <a:p>
              <a:endParaRPr lang="en-US"/>
            </a:p>
          </p:txBody>
        </p:sp>
        <p:sp>
          <p:nvSpPr>
            <p:cNvPr id="17" name="fig|vague-line"/>
            <p:cNvSpPr/>
            <p:nvPr/>
          </p:nvSpPr>
          <p:spPr>
            <a:xfrm>
              <a:off x="1051560" y="3008376"/>
              <a:ext cx="2194560" cy="137160"/>
            </a:xfrm>
            <a:prstGeom prst="roundRect">
              <a:avLst>
                <a:gd name="adj" fmla="val 46667"/>
              </a:avLst>
            </a:prstGeom>
            <a:solidFill>
              <a:schemeClr val="tx1">
                <a:alpha val="25000"/>
              </a:schemeClr>
            </a:solidFill>
            <a:ln/>
          </p:spPr>
          <p:txBody>
            <a:bodyPr/>
            <a:lstStyle/>
            <a:p>
              <a:endParaRPr lang="en-US"/>
            </a:p>
          </p:txBody>
        </p:sp>
        <p:sp>
          <p:nvSpPr>
            <p:cNvPr id="18" name="fig|tidy-plan"/>
            <p:cNvSpPr/>
            <p:nvPr/>
          </p:nvSpPr>
          <p:spPr>
            <a:xfrm>
              <a:off x="4599432" y="1554480"/>
              <a:ext cx="3154680" cy="2148840"/>
            </a:xfrm>
            <a:prstGeom prst="roundRect">
              <a:avLst>
                <a:gd name="adj" fmla="val 5106"/>
              </a:avLst>
            </a:prstGeom>
            <a:solidFill>
              <a:schemeClr val="tx1"/>
            </a:solidFill>
            <a:ln/>
          </p:spPr>
          <p:txBody>
            <a:bodyPr/>
            <a:lstStyle/>
            <a:p>
              <a:endParaRPr lang="en-US"/>
            </a:p>
          </p:txBody>
        </p:sp>
        <p:sp>
          <p:nvSpPr>
            <p:cNvPr id="19" name="fig|tidy-head"/>
            <p:cNvSpPr txBox="1"/>
            <p:nvPr/>
          </p:nvSpPr>
          <p:spPr>
            <a:xfrm>
              <a:off x="4873752" y="1783080"/>
              <a:ext cx="2606040" cy="457200"/>
            </a:xfrm>
            <a:prstGeom prst="rect">
              <a:avLst/>
            </a:prstGeom>
            <a:noFill/>
            <a:ln/>
          </p:spPr>
          <p:txBody>
            <a:bodyPr wrap="square" lIns="0" tIns="0" rIns="0" bIns="0" rtlCol="0" anchor="t"/>
            <a:lstStyle/>
            <a:p>
              <a:pPr marL="0" indent="0">
                <a:buNone/>
              </a:pPr>
              <a:r>
                <a:rPr lang="en-US" sz="2400" dirty="0">
                  <a:solidFill>
                    <a:schemeClr val="bg1"/>
                  </a:solidFill>
                  <a:latin typeface="+mj-lt" pitchFamily="34" charset="0"/>
                  <a:ea typeface="+mj-lt" pitchFamily="34" charset="-122"/>
                  <a:cs typeface="+mj-lt" pitchFamily="34" charset="-120"/>
                </a:rPr>
                <a:t>A generated plan</a:t>
              </a:r>
              <a:endParaRPr lang="en-US" sz="2400" dirty="0"/>
            </a:p>
          </p:txBody>
        </p:sp>
        <p:sp>
          <p:nvSpPr>
            <p:cNvPr id="20" name="fig|tidy-box"/>
            <p:cNvSpPr/>
            <p:nvPr/>
          </p:nvSpPr>
          <p:spPr>
            <a:xfrm>
              <a:off x="4873752" y="2404872"/>
              <a:ext cx="201168" cy="164592"/>
            </a:xfrm>
            <a:prstGeom prst="roundRect">
              <a:avLst>
                <a:gd name="adj" fmla="val 22222"/>
              </a:avLst>
            </a:prstGeom>
            <a:solidFill>
              <a:schemeClr val="accent2"/>
            </a:solidFill>
            <a:ln/>
          </p:spPr>
          <p:txBody>
            <a:bodyPr/>
            <a:lstStyle/>
            <a:p>
              <a:endParaRPr lang="en-US"/>
            </a:p>
          </p:txBody>
        </p:sp>
        <p:sp>
          <p:nvSpPr>
            <p:cNvPr id="21" name="fig|tidy-line"/>
            <p:cNvSpPr/>
            <p:nvPr/>
          </p:nvSpPr>
          <p:spPr>
            <a:xfrm>
              <a:off x="5193792" y="2423160"/>
              <a:ext cx="2011680" cy="137160"/>
            </a:xfrm>
            <a:prstGeom prst="roundRect">
              <a:avLst>
                <a:gd name="adj" fmla="val 46667"/>
              </a:avLst>
            </a:prstGeom>
            <a:solidFill>
              <a:schemeClr val="bg1">
                <a:alpha val="45000"/>
              </a:schemeClr>
            </a:solidFill>
            <a:ln/>
          </p:spPr>
          <p:txBody>
            <a:bodyPr/>
            <a:lstStyle/>
            <a:p>
              <a:endParaRPr lang="en-US"/>
            </a:p>
          </p:txBody>
        </p:sp>
        <p:sp>
          <p:nvSpPr>
            <p:cNvPr id="22" name="fig|tidy-box"/>
            <p:cNvSpPr/>
            <p:nvPr/>
          </p:nvSpPr>
          <p:spPr>
            <a:xfrm>
              <a:off x="4873752" y="2697480"/>
              <a:ext cx="201168" cy="164592"/>
            </a:xfrm>
            <a:prstGeom prst="roundRect">
              <a:avLst>
                <a:gd name="adj" fmla="val 22222"/>
              </a:avLst>
            </a:prstGeom>
            <a:solidFill>
              <a:schemeClr val="accent2"/>
            </a:solidFill>
            <a:ln/>
          </p:spPr>
          <p:txBody>
            <a:bodyPr/>
            <a:lstStyle/>
            <a:p>
              <a:endParaRPr lang="en-US"/>
            </a:p>
          </p:txBody>
        </p:sp>
        <p:sp>
          <p:nvSpPr>
            <p:cNvPr id="23" name="fig|tidy-line"/>
            <p:cNvSpPr/>
            <p:nvPr/>
          </p:nvSpPr>
          <p:spPr>
            <a:xfrm>
              <a:off x="5193792" y="2715768"/>
              <a:ext cx="1783080" cy="137160"/>
            </a:xfrm>
            <a:prstGeom prst="roundRect">
              <a:avLst>
                <a:gd name="adj" fmla="val 46667"/>
              </a:avLst>
            </a:prstGeom>
            <a:solidFill>
              <a:schemeClr val="bg1">
                <a:alpha val="45000"/>
              </a:schemeClr>
            </a:solidFill>
            <a:ln/>
          </p:spPr>
          <p:txBody>
            <a:bodyPr/>
            <a:lstStyle/>
            <a:p>
              <a:endParaRPr lang="en-US"/>
            </a:p>
          </p:txBody>
        </p:sp>
        <p:sp>
          <p:nvSpPr>
            <p:cNvPr id="24" name="fig|tidy-box"/>
            <p:cNvSpPr/>
            <p:nvPr/>
          </p:nvSpPr>
          <p:spPr>
            <a:xfrm>
              <a:off x="4873752" y="2990088"/>
              <a:ext cx="201168" cy="164592"/>
            </a:xfrm>
            <a:prstGeom prst="roundRect">
              <a:avLst>
                <a:gd name="adj" fmla="val 22222"/>
              </a:avLst>
            </a:prstGeom>
            <a:solidFill>
              <a:schemeClr val="accent2"/>
            </a:solidFill>
            <a:ln/>
          </p:spPr>
          <p:txBody>
            <a:bodyPr/>
            <a:lstStyle/>
            <a:p>
              <a:endParaRPr lang="en-US"/>
            </a:p>
          </p:txBody>
        </p:sp>
        <p:sp>
          <p:nvSpPr>
            <p:cNvPr id="25" name="fig|tidy-line"/>
            <p:cNvSpPr/>
            <p:nvPr/>
          </p:nvSpPr>
          <p:spPr>
            <a:xfrm>
              <a:off x="5193792" y="3008376"/>
              <a:ext cx="1920240" cy="137160"/>
            </a:xfrm>
            <a:prstGeom prst="roundRect">
              <a:avLst>
                <a:gd name="adj" fmla="val 46667"/>
              </a:avLst>
            </a:prstGeom>
            <a:solidFill>
              <a:schemeClr val="bg1">
                <a:alpha val="45000"/>
              </a:schemeClr>
            </a:solidFill>
            <a:ln/>
          </p:spPr>
          <p:txBody>
            <a:bodyPr/>
            <a:lstStyle/>
            <a:p>
              <a:endParaRPr lang="en-US"/>
            </a:p>
          </p:txBody>
        </p:sp>
        <p:sp>
          <p:nvSpPr>
            <p:cNvPr id="26" name="fig|looks-complete"/>
            <p:cNvSpPr/>
            <p:nvPr/>
          </p:nvSpPr>
          <p:spPr>
            <a:xfrm>
              <a:off x="8421624" y="1554480"/>
              <a:ext cx="3154680" cy="2148840"/>
            </a:xfrm>
            <a:prstGeom prst="roundRect">
              <a:avLst>
                <a:gd name="adj" fmla="val 5106"/>
              </a:avLst>
            </a:prstGeom>
            <a:solidFill>
              <a:schemeClr val="accent2"/>
            </a:solidFill>
            <a:ln/>
          </p:spPr>
          <p:txBody>
            <a:bodyPr/>
            <a:lstStyle/>
            <a:p>
              <a:endParaRPr lang="en-US"/>
            </a:p>
          </p:txBody>
        </p:sp>
        <p:sp>
          <p:nvSpPr>
            <p:cNvPr id="27" name="fig|complete-head"/>
            <p:cNvSpPr txBox="1"/>
            <p:nvPr/>
          </p:nvSpPr>
          <p:spPr>
            <a:xfrm>
              <a:off x="8695944" y="1783080"/>
              <a:ext cx="2606040" cy="457200"/>
            </a:xfrm>
            <a:prstGeom prst="rect">
              <a:avLst/>
            </a:prstGeom>
            <a:noFill/>
            <a:ln/>
          </p:spPr>
          <p:txBody>
            <a:bodyPr wrap="square" lIns="0" tIns="0" rIns="0" bIns="0" rtlCol="0" anchor="t"/>
            <a:lstStyle/>
            <a:p>
              <a:pPr marL="0" indent="0">
                <a:buNone/>
              </a:pPr>
              <a:r>
                <a:rPr lang="en-US" sz="2400" dirty="0">
                  <a:solidFill>
                    <a:schemeClr val="tx1"/>
                  </a:solidFill>
                  <a:latin typeface="+mj-lt" pitchFamily="34" charset="0"/>
                  <a:ea typeface="+mj-lt" pitchFamily="34" charset="-122"/>
                  <a:cs typeface="+mj-lt" pitchFamily="34" charset="-120"/>
                </a:rPr>
                <a:t>Looks complete</a:t>
              </a:r>
              <a:endParaRPr lang="en-US" sz="2400" dirty="0"/>
            </a:p>
          </p:txBody>
        </p:sp>
        <p:sp>
          <p:nvSpPr>
            <p:cNvPr id="28" name="fig|complete-note"/>
            <p:cNvSpPr txBox="1"/>
            <p:nvPr/>
          </p:nvSpPr>
          <p:spPr>
            <a:xfrm>
              <a:off x="8695944" y="2377440"/>
              <a:ext cx="2606040" cy="1005840"/>
            </a:xfrm>
            <a:prstGeom prst="rect">
              <a:avLst/>
            </a:prstGeom>
            <a:noFill/>
            <a:ln/>
          </p:spPr>
          <p:txBody>
            <a:bodyPr wrap="square" lIns="0" tIns="0" rIns="0" bIns="0" rtlCol="0" anchor="t"/>
            <a:lstStyle/>
            <a:p>
              <a:pPr marL="0" indent="0">
                <a:buNone/>
              </a:pPr>
              <a:r>
                <a:rPr lang="en-US" sz="2000" dirty="0">
                  <a:solidFill>
                    <a:schemeClr val="accent6"/>
                  </a:solidFill>
                </a:rPr>
                <a:t>and can still miss what you meant</a:t>
              </a:r>
              <a:endParaRPr lang="en-US" sz="2000" dirty="0"/>
            </a:p>
          </p:txBody>
        </p:sp>
        <p:sp>
          <p:nvSpPr>
            <p:cNvPr id="29" name="fig|arrow"/>
            <p:cNvSpPr/>
            <p:nvPr/>
          </p:nvSpPr>
          <p:spPr>
            <a:xfrm>
              <a:off x="4041648" y="2628900"/>
              <a:ext cx="448056" cy="0"/>
            </a:xfrm>
            <a:prstGeom prst="line">
              <a:avLst/>
            </a:prstGeom>
            <a:noFill/>
            <a:ln w="50800">
              <a:solidFill>
                <a:schemeClr val="accent2"/>
              </a:solidFill>
              <a:prstDash val="solid"/>
              <a:tailEnd type="triangle"/>
            </a:ln>
          </p:spPr>
          <p:txBody>
            <a:bodyPr/>
            <a:lstStyle/>
            <a:p>
              <a:endParaRPr lang="en-US"/>
            </a:p>
          </p:txBody>
        </p:sp>
        <p:sp>
          <p:nvSpPr>
            <p:cNvPr id="30" name="fig|arrow"/>
            <p:cNvSpPr/>
            <p:nvPr/>
          </p:nvSpPr>
          <p:spPr>
            <a:xfrm>
              <a:off x="7863840" y="2628900"/>
              <a:ext cx="448056" cy="0"/>
            </a:xfrm>
            <a:prstGeom prst="line">
              <a:avLst/>
            </a:prstGeom>
            <a:noFill/>
            <a:ln w="50800">
              <a:solidFill>
                <a:schemeClr val="accent2"/>
              </a:solidFill>
              <a:prstDash val="solid"/>
              <a:tailEnd type="triangle"/>
            </a:ln>
          </p:spPr>
          <p:txBody>
            <a:bodyPr/>
            <a:lstStyle/>
            <a:p>
              <a:endParaRPr lang="en-US"/>
            </a:p>
          </p:txBody>
        </p:sp>
      </p:grpSp>
      <p:sp>
        <p:nvSpPr>
          <p:cNvPr id="31" name="explain-band"/>
          <p:cNvSpPr/>
          <p:nvPr/>
        </p:nvSpPr>
        <p:spPr>
          <a:xfrm>
            <a:off x="777240" y="3977640"/>
            <a:ext cx="10789920" cy="2194560"/>
          </a:xfrm>
          <a:prstGeom prst="roundRect">
            <a:avLst>
              <a:gd name="adj" fmla="val 5000"/>
            </a:avLst>
          </a:prstGeom>
          <a:solidFill>
            <a:schemeClr val="bg1"/>
          </a:solidFill>
          <a:ln/>
        </p:spPr>
        <p:txBody>
          <a:bodyPr/>
          <a:lstStyle/>
          <a:p>
            <a:endParaRPr lang="en-US"/>
          </a:p>
        </p:txBody>
      </p:sp>
      <p:sp>
        <p:nvSpPr>
          <p:cNvPr id="32" name="Text 30"/>
          <p:cNvSpPr txBox="1"/>
          <p:nvPr/>
        </p:nvSpPr>
        <p:spPr>
          <a:xfrm>
            <a:off x="1143000" y="3977640"/>
            <a:ext cx="10058400" cy="2194560"/>
          </a:xfrm>
          <a:prstGeom prst="rect">
            <a:avLst/>
          </a:prstGeom>
          <a:noFill/>
          <a:ln/>
        </p:spPr>
        <p:txBody>
          <a:bodyPr wrap="square" lIns="0" tIns="0" rIns="0" bIns="0" rtlCol="0" anchor="ctr"/>
          <a:lstStyle/>
          <a:p>
            <a:pPr marL="0" indent="0">
              <a:buNone/>
            </a:pPr>
            <a:r>
              <a:rPr lang="en-US" sz="2200" dirty="0">
                <a:solidFill>
                  <a:schemeClr val="tx1"/>
                </a:solidFill>
              </a:rPr>
              <a:t>Plan mode reads the codebase and proposes steps, and it often finds files and side effects you hadn't considered. It can only work from what you asked for, so a vague request produces a plan that looks thorough and may still be wrong about what you wanted. Reviewing the plan takes the same judgment as writing one.</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grpSp>
        <p:nvGrpSpPr>
          <p:cNvPr id="21" name="Progress marker" descr="Progress marker: slide 9 of 9"/>
          <p:cNvGrpSpPr/>
          <p:nvPr/>
        </p:nvGrpSpPr>
        <p:grpSpPr>
          <a:xfrm>
            <a:off x="0" y="0"/>
            <a:ext cx="292608" cy="6858000"/>
            <a:chOff x="0" y="0"/>
            <a:chExt cx="292608" cy="6858000"/>
          </a:xfrm>
        </p:grpSpPr>
        <p:sp>
          <p:nvSpPr>
            <p:cNvPr id="2" name="prog|strip"/>
            <p:cNvSpPr/>
            <p:nvPr/>
          </p:nvSpPr>
          <p:spPr>
            <a:xfrm>
              <a:off x="0" y="0"/>
              <a:ext cx="292608" cy="6858000"/>
            </a:xfrm>
            <a:prstGeom prst="rect">
              <a:avLst/>
            </a:prstGeom>
            <a:solidFill>
              <a:schemeClr val="accent1"/>
            </a:solidFill>
            <a:ln/>
          </p:spPr>
          <p:txBody>
            <a:bodyPr/>
            <a:lstStyle/>
            <a:p>
              <a:endParaRPr lang="en-US"/>
            </a:p>
          </p:txBody>
        </p:sp>
        <p:sp>
          <p:nvSpPr>
            <p:cNvPr id="3" name="prog|dot1"/>
            <p:cNvSpPr/>
            <p:nvPr/>
          </p:nvSpPr>
          <p:spPr>
            <a:xfrm>
              <a:off x="109728" y="969264"/>
              <a:ext cx="73152" cy="73152"/>
            </a:xfrm>
            <a:prstGeom prst="ellipse">
              <a:avLst/>
            </a:prstGeom>
            <a:solidFill>
              <a:schemeClr val="accent2">
                <a:alpha val="65000"/>
              </a:schemeClr>
            </a:solidFill>
            <a:ln/>
          </p:spPr>
          <p:txBody>
            <a:bodyPr/>
            <a:lstStyle/>
            <a:p>
              <a:endParaRPr lang="en-US"/>
            </a:p>
          </p:txBody>
        </p:sp>
        <p:sp>
          <p:nvSpPr>
            <p:cNvPr id="4" name="prog|dot2"/>
            <p:cNvSpPr/>
            <p:nvPr/>
          </p:nvSpPr>
          <p:spPr>
            <a:xfrm>
              <a:off x="109728" y="1575054"/>
              <a:ext cx="73152" cy="73152"/>
            </a:xfrm>
            <a:prstGeom prst="ellipse">
              <a:avLst/>
            </a:prstGeom>
            <a:solidFill>
              <a:schemeClr val="accent2">
                <a:alpha val="65000"/>
              </a:schemeClr>
            </a:solidFill>
            <a:ln/>
          </p:spPr>
          <p:txBody>
            <a:bodyPr/>
            <a:lstStyle/>
            <a:p>
              <a:endParaRPr lang="en-US"/>
            </a:p>
          </p:txBody>
        </p:sp>
        <p:sp>
          <p:nvSpPr>
            <p:cNvPr id="5" name="prog|dot3"/>
            <p:cNvSpPr/>
            <p:nvPr/>
          </p:nvSpPr>
          <p:spPr>
            <a:xfrm>
              <a:off x="109728" y="2180844"/>
              <a:ext cx="73152" cy="73152"/>
            </a:xfrm>
            <a:prstGeom prst="ellipse">
              <a:avLst/>
            </a:prstGeom>
            <a:solidFill>
              <a:schemeClr val="accent2">
                <a:alpha val="65000"/>
              </a:schemeClr>
            </a:solidFill>
            <a:ln/>
          </p:spPr>
          <p:txBody>
            <a:bodyPr/>
            <a:lstStyle/>
            <a:p>
              <a:endParaRPr lang="en-US"/>
            </a:p>
          </p:txBody>
        </p:sp>
        <p:sp>
          <p:nvSpPr>
            <p:cNvPr id="6" name="prog|dot4"/>
            <p:cNvSpPr/>
            <p:nvPr/>
          </p:nvSpPr>
          <p:spPr>
            <a:xfrm>
              <a:off x="109728" y="2786634"/>
              <a:ext cx="73152" cy="73152"/>
            </a:xfrm>
            <a:prstGeom prst="ellipse">
              <a:avLst/>
            </a:prstGeom>
            <a:solidFill>
              <a:schemeClr val="accent2">
                <a:alpha val="65000"/>
              </a:schemeClr>
            </a:solidFill>
            <a:ln/>
          </p:spPr>
          <p:txBody>
            <a:bodyPr/>
            <a:lstStyle/>
            <a:p>
              <a:endParaRPr lang="en-US"/>
            </a:p>
          </p:txBody>
        </p:sp>
        <p:sp>
          <p:nvSpPr>
            <p:cNvPr id="7" name="prog|dot5"/>
            <p:cNvSpPr/>
            <p:nvPr/>
          </p:nvSpPr>
          <p:spPr>
            <a:xfrm>
              <a:off x="109728" y="3392424"/>
              <a:ext cx="73152" cy="73152"/>
            </a:xfrm>
            <a:prstGeom prst="ellipse">
              <a:avLst/>
            </a:prstGeom>
            <a:solidFill>
              <a:schemeClr val="accent2">
                <a:alpha val="65000"/>
              </a:schemeClr>
            </a:solidFill>
            <a:ln/>
          </p:spPr>
          <p:txBody>
            <a:bodyPr/>
            <a:lstStyle/>
            <a:p>
              <a:endParaRPr lang="en-US"/>
            </a:p>
          </p:txBody>
        </p:sp>
        <p:sp>
          <p:nvSpPr>
            <p:cNvPr id="8" name="prog|dot6"/>
            <p:cNvSpPr/>
            <p:nvPr/>
          </p:nvSpPr>
          <p:spPr>
            <a:xfrm>
              <a:off x="109728" y="3998214"/>
              <a:ext cx="73152" cy="73152"/>
            </a:xfrm>
            <a:prstGeom prst="ellipse">
              <a:avLst/>
            </a:prstGeom>
            <a:solidFill>
              <a:schemeClr val="accent2">
                <a:alpha val="65000"/>
              </a:schemeClr>
            </a:solidFill>
            <a:ln/>
          </p:spPr>
          <p:txBody>
            <a:bodyPr/>
            <a:lstStyle/>
            <a:p>
              <a:endParaRPr lang="en-US"/>
            </a:p>
          </p:txBody>
        </p:sp>
        <p:sp>
          <p:nvSpPr>
            <p:cNvPr id="9" name="prog|dot7"/>
            <p:cNvSpPr/>
            <p:nvPr/>
          </p:nvSpPr>
          <p:spPr>
            <a:xfrm>
              <a:off x="109728" y="4604004"/>
              <a:ext cx="73152" cy="73152"/>
            </a:xfrm>
            <a:prstGeom prst="ellipse">
              <a:avLst/>
            </a:prstGeom>
            <a:solidFill>
              <a:schemeClr val="accent2">
                <a:alpha val="65000"/>
              </a:schemeClr>
            </a:solidFill>
            <a:ln/>
          </p:spPr>
          <p:txBody>
            <a:bodyPr/>
            <a:lstStyle/>
            <a:p>
              <a:endParaRPr lang="en-US"/>
            </a:p>
          </p:txBody>
        </p:sp>
        <p:sp>
          <p:nvSpPr>
            <p:cNvPr id="10" name="prog|dot8"/>
            <p:cNvSpPr/>
            <p:nvPr/>
          </p:nvSpPr>
          <p:spPr>
            <a:xfrm>
              <a:off x="109728" y="5209794"/>
              <a:ext cx="73152" cy="73152"/>
            </a:xfrm>
            <a:prstGeom prst="ellipse">
              <a:avLst/>
            </a:prstGeom>
            <a:solidFill>
              <a:schemeClr val="accent2">
                <a:alpha val="65000"/>
              </a:schemeClr>
            </a:solidFill>
            <a:ln/>
          </p:spPr>
          <p:txBody>
            <a:bodyPr/>
            <a:lstStyle/>
            <a:p>
              <a:endParaRPr lang="en-US"/>
            </a:p>
          </p:txBody>
        </p:sp>
        <p:sp>
          <p:nvSpPr>
            <p:cNvPr id="11" name="prog|dot9"/>
            <p:cNvSpPr/>
            <p:nvPr/>
          </p:nvSpPr>
          <p:spPr>
            <a:xfrm>
              <a:off x="64008" y="5769864"/>
              <a:ext cx="164592" cy="164592"/>
            </a:xfrm>
            <a:prstGeom prst="ellipse">
              <a:avLst/>
            </a:prstGeom>
            <a:solidFill>
              <a:schemeClr val="bg1"/>
            </a:solidFill>
            <a:ln/>
          </p:spPr>
          <p:txBody>
            <a:bodyPr/>
            <a:lstStyle/>
            <a:p>
              <a:endParaRPr lang="en-US"/>
            </a:p>
          </p:txBody>
        </p:sp>
      </p:grpSp>
      <p:sp>
        <p:nvSpPr>
          <p:cNvPr id="12" name="Text 0"/>
          <p:cNvSpPr>
            <a:spLocks noGrp="1"/>
          </p:cNvSpPr>
          <p:nvPr>
            <p:ph type="title" idx="100" hasCustomPrompt="1"/>
          </p:nvPr>
        </p:nvSpPr>
        <p:spPr>
          <a:xfrm>
            <a:off x="777240" y="320040"/>
            <a:ext cx="10789920" cy="1051560"/>
          </a:xfrm>
          <a:prstGeom prst="rect">
            <a:avLst/>
          </a:prstGeom>
          <a:noFill/>
          <a:ln/>
        </p:spPr>
        <p:txBody>
          <a:bodyPr wrap="square" lIns="0" tIns="0" rIns="0" bIns="0" rtlCol="0" anchor="ctr"/>
          <a:lstStyle/>
          <a:p>
            <a:pPr marL="0" indent="0" algn="l">
              <a:buNone/>
            </a:pPr>
            <a:r>
              <a:rPr lang="en-US" sz="3200" dirty="0">
                <a:solidFill>
                  <a:schemeClr val="tx1"/>
                </a:solidFill>
              </a:rPr>
              <a:t>Planning is worth the time on work that has to last</a:t>
            </a:r>
            <a:endParaRPr lang="en-US" sz="3200" dirty="0"/>
          </a:p>
        </p:txBody>
      </p:sp>
      <p:grpSp>
        <p:nvGrpSpPr>
          <p:cNvPr id="22" name="Figure" descr="Two columns comparing work that is worth planning with work that usually is not."/>
          <p:cNvGrpSpPr/>
          <p:nvPr/>
        </p:nvGrpSpPr>
        <p:grpSpPr>
          <a:xfrm>
            <a:off x="777240" y="1554480"/>
            <a:ext cx="10789920" cy="3063240"/>
            <a:chOff x="777240" y="1554480"/>
            <a:chExt cx="10789920" cy="3063240"/>
          </a:xfrm>
        </p:grpSpPr>
        <p:sp>
          <p:nvSpPr>
            <p:cNvPr id="13" name="fig|cost-column"/>
            <p:cNvSpPr/>
            <p:nvPr/>
          </p:nvSpPr>
          <p:spPr>
            <a:xfrm>
              <a:off x="777240" y="1554480"/>
              <a:ext cx="5257800" cy="3063240"/>
            </a:xfrm>
            <a:prstGeom prst="roundRect">
              <a:avLst>
                <a:gd name="adj" fmla="val 4478"/>
              </a:avLst>
            </a:prstGeom>
            <a:solidFill>
              <a:schemeClr val="accent1"/>
            </a:solidFill>
            <a:ln/>
          </p:spPr>
          <p:txBody>
            <a:bodyPr/>
            <a:lstStyle/>
            <a:p>
              <a:endParaRPr lang="en-US"/>
            </a:p>
          </p:txBody>
        </p:sp>
        <p:sp>
          <p:nvSpPr>
            <p:cNvPr id="14" name="fig|cost-head"/>
            <p:cNvSpPr txBox="1"/>
            <p:nvPr/>
          </p:nvSpPr>
          <p:spPr>
            <a:xfrm>
              <a:off x="1097280" y="1783080"/>
              <a:ext cx="4617720" cy="502920"/>
            </a:xfrm>
            <a:prstGeom prst="rect">
              <a:avLst/>
            </a:prstGeom>
            <a:noFill/>
            <a:ln/>
          </p:spPr>
          <p:txBody>
            <a:bodyPr wrap="square" lIns="0" tIns="0" rIns="0" bIns="0" rtlCol="0" anchor="t"/>
            <a:lstStyle/>
            <a:p>
              <a:pPr marL="0" indent="0">
                <a:buNone/>
              </a:pPr>
              <a:r>
                <a:rPr lang="en-US" sz="2600" dirty="0">
                  <a:solidFill>
                    <a:schemeClr val="accent2"/>
                  </a:solidFill>
                  <a:latin typeface="+mj-lt" pitchFamily="34" charset="0"/>
                  <a:ea typeface="+mj-lt" pitchFamily="34" charset="-122"/>
                  <a:cs typeface="+mj-lt" pitchFamily="34" charset="-120"/>
                </a:rPr>
                <a:t>Worth planning</a:t>
              </a:r>
              <a:endParaRPr lang="en-US" sz="2600" dirty="0"/>
            </a:p>
          </p:txBody>
        </p:sp>
        <p:sp>
          <p:nvSpPr>
            <p:cNvPr id="15" name="fig|cost-items"/>
            <p:cNvSpPr txBox="1"/>
            <p:nvPr/>
          </p:nvSpPr>
          <p:spPr>
            <a:xfrm>
              <a:off x="1097280" y="2423160"/>
              <a:ext cx="4617720" cy="2011680"/>
            </a:xfrm>
            <a:prstGeom prst="rect">
              <a:avLst/>
            </a:prstGeom>
            <a:noFill/>
            <a:ln/>
          </p:spPr>
          <p:txBody>
            <a:bodyPr wrap="square" lIns="0" tIns="0" rIns="0" bIns="0" rtlCol="0" anchor="t"/>
            <a:lstStyle/>
            <a:p>
              <a:pPr marL="0" indent="0">
                <a:spcAft>
                  <a:spcPts val="900"/>
                </a:spcAft>
                <a:buNone/>
              </a:pPr>
              <a:r>
                <a:rPr lang="en-US" sz="2200" dirty="0">
                  <a:solidFill>
                    <a:schemeClr val="bg1"/>
                  </a:solidFill>
                </a:rPr>
                <a:t>The work will continue across more than one session.</a:t>
              </a:r>
              <a:endParaRPr lang="en-US" sz="2200" dirty="0"/>
            </a:p>
            <a:p>
              <a:pPr marL="0" indent="0">
                <a:spcAft>
                  <a:spcPts val="900"/>
                </a:spcAft>
                <a:buNone/>
              </a:pPr>
              <a:r>
                <a:rPr lang="en-US" sz="2200" dirty="0">
                  <a:solidFill>
                    <a:schemeClr val="bg1"/>
                  </a:solidFill>
                </a:rPr>
                <a:t>Other people will rely on it.</a:t>
              </a:r>
              <a:endParaRPr lang="en-US" sz="2200" dirty="0"/>
            </a:p>
            <a:p>
              <a:pPr marL="0" indent="0">
                <a:spcAft>
                  <a:spcPts val="900"/>
                </a:spcAft>
                <a:buNone/>
              </a:pPr>
              <a:r>
                <a:rPr lang="en-US" sz="2200" dirty="0">
                  <a:solidFill>
                    <a:schemeClr val="bg1"/>
                  </a:solidFill>
                </a:rPr>
                <a:t>Mistakes would be expensive to find later.</a:t>
              </a:r>
              <a:endParaRPr lang="en-US" sz="2200" dirty="0"/>
            </a:p>
          </p:txBody>
        </p:sp>
        <p:sp>
          <p:nvSpPr>
            <p:cNvPr id="16" name="fig|cost-column"/>
            <p:cNvSpPr/>
            <p:nvPr/>
          </p:nvSpPr>
          <p:spPr>
            <a:xfrm>
              <a:off x="6309360" y="1554480"/>
              <a:ext cx="5257800" cy="3063240"/>
            </a:xfrm>
            <a:prstGeom prst="roundRect">
              <a:avLst>
                <a:gd name="adj" fmla="val 4478"/>
              </a:avLst>
            </a:prstGeom>
            <a:solidFill>
              <a:schemeClr val="tx1"/>
            </a:solidFill>
            <a:ln/>
          </p:spPr>
          <p:txBody>
            <a:bodyPr/>
            <a:lstStyle/>
            <a:p>
              <a:endParaRPr lang="en-US"/>
            </a:p>
          </p:txBody>
        </p:sp>
        <p:sp>
          <p:nvSpPr>
            <p:cNvPr id="17" name="fig|cost-head"/>
            <p:cNvSpPr txBox="1"/>
            <p:nvPr/>
          </p:nvSpPr>
          <p:spPr>
            <a:xfrm>
              <a:off x="6629400" y="1783080"/>
              <a:ext cx="4617720" cy="502920"/>
            </a:xfrm>
            <a:prstGeom prst="rect">
              <a:avLst/>
            </a:prstGeom>
            <a:noFill/>
            <a:ln/>
          </p:spPr>
          <p:txBody>
            <a:bodyPr wrap="square" lIns="0" tIns="0" rIns="0" bIns="0" rtlCol="0" anchor="t"/>
            <a:lstStyle/>
            <a:p>
              <a:pPr marL="0" indent="0">
                <a:buNone/>
              </a:pPr>
              <a:r>
                <a:rPr lang="en-US" sz="2600" dirty="0">
                  <a:solidFill>
                    <a:schemeClr val="accent2"/>
                  </a:solidFill>
                  <a:latin typeface="+mj-lt" pitchFamily="34" charset="0"/>
                  <a:ea typeface="+mj-lt" pitchFamily="34" charset="-122"/>
                  <a:cs typeface="+mj-lt" pitchFamily="34" charset="-120"/>
                </a:rPr>
                <a:t>Usually not worth it</a:t>
              </a:r>
              <a:endParaRPr lang="en-US" sz="2600" dirty="0"/>
            </a:p>
          </p:txBody>
        </p:sp>
        <p:sp>
          <p:nvSpPr>
            <p:cNvPr id="18" name="fig|cost-items"/>
            <p:cNvSpPr txBox="1"/>
            <p:nvPr/>
          </p:nvSpPr>
          <p:spPr>
            <a:xfrm>
              <a:off x="6629400" y="2423160"/>
              <a:ext cx="4617720" cy="2011680"/>
            </a:xfrm>
            <a:prstGeom prst="rect">
              <a:avLst/>
            </a:prstGeom>
            <a:noFill/>
            <a:ln/>
          </p:spPr>
          <p:txBody>
            <a:bodyPr wrap="square" lIns="0" tIns="0" rIns="0" bIns="0" rtlCol="0" anchor="t"/>
            <a:lstStyle/>
            <a:p>
              <a:pPr marL="0" indent="0">
                <a:spcAft>
                  <a:spcPts val="900"/>
                </a:spcAft>
                <a:buNone/>
              </a:pPr>
              <a:r>
                <a:rPr lang="en-US" sz="2200" dirty="0">
                  <a:solidFill>
                    <a:schemeClr val="bg1"/>
                  </a:solidFill>
                </a:rPr>
                <a:t>Throwaway scripts and quick experiments.</a:t>
              </a:r>
              <a:endParaRPr lang="en-US" sz="2200" dirty="0"/>
            </a:p>
            <a:p>
              <a:pPr marL="0" indent="0">
                <a:spcAft>
                  <a:spcPts val="900"/>
                </a:spcAft>
                <a:buNone/>
              </a:pPr>
              <a:r>
                <a:rPr lang="en-US" sz="2200" dirty="0">
                  <a:solidFill>
                    <a:schemeClr val="bg1"/>
                  </a:solidFill>
                </a:rPr>
                <a:t>Tasks that take less time to do than to plan.</a:t>
              </a:r>
              <a:endParaRPr lang="en-US" sz="2200" dirty="0"/>
            </a:p>
          </p:txBody>
        </p:sp>
      </p:grpSp>
      <p:grpSp>
        <p:nvGrpSpPr>
          <p:cNvPr id="23" name="Reveal" descr="For anything bigger than a quick task, a few minutes of planning usually costs less than several rounds of revision."/>
          <p:cNvGrpSpPr/>
          <p:nvPr/>
        </p:nvGrpSpPr>
        <p:grpSpPr>
          <a:xfrm>
            <a:off x="777240" y="4892040"/>
            <a:ext cx="10789920" cy="1280160"/>
            <a:chOff x="777240" y="4892040"/>
            <a:chExt cx="10789920" cy="1280160"/>
          </a:xfrm>
        </p:grpSpPr>
        <p:sp>
          <p:nvSpPr>
            <p:cNvPr id="19" name="reveal|summary-band"/>
            <p:cNvSpPr/>
            <p:nvPr/>
          </p:nvSpPr>
          <p:spPr>
            <a:xfrm>
              <a:off x="777240" y="4892040"/>
              <a:ext cx="10789920" cy="1280160"/>
            </a:xfrm>
            <a:prstGeom prst="roundRect">
              <a:avLst>
                <a:gd name="adj" fmla="val 8571"/>
              </a:avLst>
            </a:prstGeom>
            <a:solidFill>
              <a:schemeClr val="bg2"/>
            </a:solidFill>
            <a:ln/>
          </p:spPr>
          <p:txBody>
            <a:bodyPr/>
            <a:lstStyle/>
            <a:p>
              <a:endParaRPr lang="en-US"/>
            </a:p>
          </p:txBody>
        </p:sp>
        <p:sp>
          <p:nvSpPr>
            <p:cNvPr id="20" name="reveal|summary-text"/>
            <p:cNvSpPr txBox="1"/>
            <p:nvPr/>
          </p:nvSpPr>
          <p:spPr>
            <a:xfrm>
              <a:off x="1143000" y="4892040"/>
              <a:ext cx="10058400" cy="1280160"/>
            </a:xfrm>
            <a:prstGeom prst="rect">
              <a:avLst/>
            </a:prstGeom>
            <a:noFill/>
            <a:ln/>
          </p:spPr>
          <p:txBody>
            <a:bodyPr wrap="square" lIns="0" tIns="0" rIns="0" bIns="0" rtlCol="0" anchor="ctr"/>
            <a:lstStyle/>
            <a:p>
              <a:pPr marL="0" indent="0">
                <a:buNone/>
              </a:pPr>
              <a:r>
                <a:rPr lang="en-US" sz="2600" dirty="0">
                  <a:solidFill>
                    <a:schemeClr val="tx1"/>
                  </a:solidFill>
                  <a:latin typeface="+mj-lt" pitchFamily="34" charset="0"/>
                  <a:ea typeface="+mj-lt" pitchFamily="34" charset="-122"/>
                  <a:cs typeface="+mj-lt" pitchFamily="34" charset="-120"/>
                </a:rPr>
                <a:t>For anything bigger than a quick task, a few minutes of planning usually costs less than several rounds of revision.</a:t>
              </a:r>
              <a:endParaRPr lang="en-US" sz="26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ollegiate Field Notes">
  <a:themeElements>
    <a:clrScheme name="Collegiate Field Notes">
      <a:dk1>
        <a:srgbClr val="1D1A17"/>
      </a:dk1>
      <a:lt1>
        <a:srgbClr val="F2EBDD"/>
      </a:lt1>
      <a:dk2>
        <a:srgbClr val="500000"/>
      </a:dk2>
      <a:lt2>
        <a:srgbClr val="E3D6BC"/>
      </a:lt2>
      <a:accent1>
        <a:srgbClr val="500000"/>
      </a:accent1>
      <a:accent2>
        <a:srgbClr val="D7B56D"/>
      </a:accent2>
      <a:accent3>
        <a:srgbClr val="167A55"/>
      </a:accent3>
      <a:accent4>
        <a:srgbClr val="1D1A17"/>
      </a:accent4>
      <a:accent5>
        <a:srgbClr val="2A2621"/>
      </a:accent5>
      <a:accent6>
        <a:srgbClr val="6A1111"/>
      </a:accent6>
      <a:hlink>
        <a:srgbClr val="167A55"/>
      </a:hlink>
      <a:folHlink>
        <a:srgbClr val="6A1111"/>
      </a:folHlink>
    </a:clrScheme>
    <a:fontScheme name="Collegiate Field Notes">
      <a:majorFont>
        <a:latin typeface="Bahnschrift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1367</Words>
  <Application>Microsoft Office PowerPoint</Application>
  <PresentationFormat>Widescreen</PresentationFormat>
  <Paragraphs>112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Bahnschrift SemiBold</vt:lpstr>
      <vt:lpstr>Consolas</vt:lpstr>
      <vt:lpstr>Collegiate Field Notes</vt:lpstr>
      <vt:lpstr>Task Decomposition and Planning</vt:lpstr>
      <vt:lpstr>Vague requests usually lead to several rounds of revision</vt:lpstr>
      <vt:lpstr>A short request leaves the decisions to the agent</vt:lpstr>
      <vt:lpstr>Most of the wrong guesses fall into three areas</vt:lpstr>
      <vt:lpstr>Break the request into units you can check</vt:lpstr>
      <vt:lpstr>The authentication request, split into three units</vt:lpstr>
      <vt:lpstr>Planning takes a few minutes before the agent starts</vt:lpstr>
      <vt:lpstr>Plan mode drafts a plan for you to review</vt:lpstr>
      <vt:lpstr>Planning is worth the time on work that has to last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Decomposition and Planning</dc:title>
  <dc:subject>ENGR689 - task decomposition and planning for AI coding agents</dc:subject>
  <dc:creator>Tripp Robinson</dc:creator>
  <cp:lastModifiedBy>Robinson, Robert A</cp:lastModifiedBy>
  <cp:revision>1</cp:revision>
  <dcterms:created xsi:type="dcterms:W3CDTF">2026-10-21T18:36:23Z</dcterms:created>
  <dcterms:modified xsi:type="dcterms:W3CDTF">2026-10-21T18:59:59Z</dcterms:modified>
</cp:coreProperties>
</file>